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IBM University Engagement Project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  <a:latin typeface="Arial"/>
              </a:defRPr>
            </a:pPr>
            <a:r>
              <a:t>Exploring the Power of Agentic AI with IBM Granite and LangFlow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228600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Project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AI-Powered Personalized Learning &amp; Teacher Assistant Platform</a:t>
            </a:r>
            <a:br/>
            <a:r>
              <a:t>Domain: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572000" cy="228600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Core Agent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Personalized Learning Recommendation Agent</a:t>
            </a:r>
            <a:br/>
            <a:r>
              <a:t>Student-specific learning paths, adaptive difficulty and actionable teacher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46E"/>
                </a:solidFill>
                <a:latin typeface="Arial"/>
              </a:defRPr>
            </a:pPr>
            <a:r>
              <a:t>Student Name: Sujal Talaviya  |  University: Sarvajanik University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Domain: Education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Project Title: AI-Powered Personalized Learning &amp; Teacher Assistant Platform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Primary focus: Personalized Learning Recommendation Agent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Target users: Students, teachers and school administrators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Target context: Government and rural schools in Gujarat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Goal: improve personalized learning while reducing repetitive teacher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  <a:latin typeface="Arial"/>
              </a:defRPr>
            </a:pPr>
            <a:r>
              <a:t>Why personalized learning is difficult in many government and rural schools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1. Diverse learning levels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Students in the same class may have very different mastery levels.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2. Limited resources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Teachers have limited time and access to individualized learning materials.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2588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3. Administrative load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Assessment, feedback and repetitive planning consume teacher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06324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4. Weak progress visibility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Teachers need timely topic-wise insights to identify students needing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063240"/>
            <a:ext cx="347472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5. One-size-fits-all learning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A fixed sequence may be too easy for some students and too difficult for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D4B"/>
                </a:solidFill>
                <a:latin typeface="Arial"/>
              </a:defRPr>
            </a:pPr>
            <a:r>
              <a:t>Core challenge: turn assessment evidence into practical, explainable, personalized next steps.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Create an AI-assisted platform that builds a learning profile for each student.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Analyze assessment results and estimate mastery for each topic.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Detect weak, developing, proficient and strong areas.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Select the next learning action: foundation, guided practice, independent practice or challenge.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Recommend curriculum-aligned learning resources at an appropriate difficulty.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Provide teachers with students-needing-support lists and topic-wise performance insights.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Use a human-in-the-loop approach: teachers can review and adapt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Technology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Python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Core application and recommendation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Streamlit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Lightweight student + teacher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FastAPI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Optional REST API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SQLite + SQLAlchemy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Local structured storage for the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scikit-learn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Optional ML/ranking layer for later experimentation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1546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IBM Granite + LangFlow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Planned/next-stage LLM and agent orchestration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546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RAG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Future curriculum-content retrieval layer using approved school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154680"/>
            <a:ext cx="26060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Vector Database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Future semantic retrieval for curriculum resources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LangFlow / Agent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Chat/Input component — receives student or teacher questions and learning context.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Agent component — coordinates reasoning and chooses the next learning action.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IBM Granite model — planned for natural-language reasoning, explanation and content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Retriever / Vector Store — future component for curriculum-aligned RAG.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File / Data components — ingest approved lesson plans, worksheets and resource metadata.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Output component — returns a personalized recommendation with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Personalized Learning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Student</a:t>
            </a:r>
            <a:br/>
            <a:r>
              <a:t>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Assessment</a:t>
            </a:r>
            <a:br/>
            <a:r>
              <a:t>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Mastery</a:t>
            </a:r>
            <a:br/>
            <a:r>
              <a:t>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Weak Topic</a:t>
            </a:r>
            <a:br/>
            <a:r>
              <a:t>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Action &amp; Resource</a:t>
            </a:r>
            <a:br/>
            <a:r>
              <a:t>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2331720"/>
            <a:ext cx="1508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82D"/>
                </a:solidFill>
                <a:latin typeface="Arial"/>
              </a:defRPr>
            </a:pPr>
            <a:r>
              <a:t>Personalized</a:t>
            </a:r>
            <a:br/>
            <a:r>
              <a:t>Recommendation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880360"/>
            <a:ext cx="50292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2880360"/>
            <a:ext cx="50292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2880360"/>
            <a:ext cx="50292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279" y="2880360"/>
            <a:ext cx="502921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0" y="2880360"/>
            <a:ext cx="18288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4160520"/>
            <a:ext cx="2377440" cy="91440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82D"/>
                </a:solidFill>
                <a:latin typeface="Arial"/>
              </a:defRPr>
            </a:pPr>
            <a:r>
              <a:t>New learning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2377440" cy="91440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82D"/>
                </a:solidFill>
                <a:latin typeface="Arial"/>
              </a:defRPr>
            </a:pPr>
            <a:r>
              <a:t>Re-assessment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429000"/>
            <a:ext cx="0" cy="73152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589520" y="3429000"/>
            <a:ext cx="0" cy="73152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3949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2D4B"/>
                </a:solidFill>
                <a:latin typeface="Arial"/>
              </a:defRPr>
            </a:pPr>
            <a:r>
              <a:t>Feedback loop: every new assessment updates the student's mastery profile.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Architecture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881360" cy="68580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82D"/>
                </a:solidFill>
                <a:latin typeface="Arial"/>
              </a:defRPr>
            </a:pPr>
            <a:r>
              <a:t>STUDENT / TEACHER INTERFACE  • 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1088136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82D"/>
                </a:solidFill>
                <a:latin typeface="Arial"/>
              </a:defRPr>
            </a:pPr>
            <a:r>
              <a:t>PERSONALIZED LEARNING AGENT  •  Observe → Analyze → Decide → Recommend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82D"/>
                </a:solidFill>
                <a:latin typeface="Arial"/>
              </a:defRPr>
            </a:pPr>
            <a:r>
              <a:t>Student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34290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82D"/>
                </a:solidFill>
                <a:latin typeface="Arial"/>
              </a:defRPr>
            </a:pPr>
            <a:r>
              <a:t>Assessments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82D"/>
                </a:solidFill>
                <a:latin typeface="Arial"/>
              </a:defRPr>
            </a:pPr>
            <a:r>
              <a:t>Mastery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4290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82D"/>
                </a:solidFill>
                <a:latin typeface="Arial"/>
              </a:defRPr>
            </a:pPr>
            <a:r>
              <a:t>Recommendation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525780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82D"/>
                </a:solidFill>
                <a:latin typeface="Arial"/>
              </a:defRPr>
            </a:pPr>
            <a:r>
              <a:t>SQLite + SQLAlchemy  •  Students • Topics • Assessments •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617720"/>
            <a:ext cx="544068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82D"/>
                </a:solidFill>
                <a:latin typeface="Arial"/>
              </a:defRPr>
            </a:pPr>
            <a:r>
              <a:t>Future: IBM Granite + LangFlow + RAG + Vector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Role of Agentic AI in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Observe: collect student profile, assessment history and topic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Reason: estimate mastery and identify the most important learning gap.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Plan: select an appropriate learning action and difficulty.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Act: recommend a specific learning resource or teacher-approved activity.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Adapt: use the next assessment to update the recommendation.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Explain: provide a reason that a teacher can understand and review.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Human oversight: teachers remain responsible for final educational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Token Usage &amp; Prompt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Before Prompt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Student: Grade 8</a:t>
            </a:r>
            <a:br/>
            <a:r>
              <a:t>Topic: Fractions</a:t>
            </a:r>
            <a:br/>
            <a:r>
              <a:t>Recent score: 35%</a:t>
            </a:r>
            <a:br/>
            <a:r>
              <a:t>History: repeated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12064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After Prompt / Agent Output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Action: Foundation Lesson</a:t>
            </a:r>
            <a:br/>
            <a:r>
              <a:t>Difficulty: Easy</a:t>
            </a:r>
            <a:br/>
            <a:r>
              <a:t>Reason: mastery below 40%</a:t>
            </a:r>
            <a:br/>
            <a:r>
              <a:t>Next step: short re-assessment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rial"/>
              </a:defRPr>
            </a:pPr>
            <a:r>
              <a:t>Keep prompts structured: student context → evidence → constraints → required output.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rial"/>
              </a:defRPr>
            </a:pPr>
            <a:r>
              <a:t>Avoid sending unnecessary student history to reduce cost and improve consistency.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rial"/>
              </a:defRPr>
            </a:pPr>
            <a:r>
              <a:t>For the first MVP, deterministic rules handle core recommendations; LLMs are best added for explanation/content generation.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Novelty and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Student-level personalization instead of one-size-fits-all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Explainable recommendations: every action is tied to observed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Closed feedback loop: assessment → recommendation → activity → re-assessment.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Teacher-in-the-loop design for safer and more practical school adoption.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Gujarat-focused opportunity: future Gujarati + English learning support.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Rural-school friendly architecture: lightweight first deployment with a path to cloud/LLM/RAG.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Modular agent architecture can later support assessment, lesson planning and teacher-assistant agents.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Implementation &amp;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42900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Student Dashboard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View mastery by topic and receive personalized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234440"/>
            <a:ext cx="342900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Teacher Dashboard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See students needing support and inspect topic-wise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234440"/>
            <a:ext cx="342900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Agent API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FastAPI endpoint exposes student recommendations for future integrations.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Demo data includes Mathematics, Science and English topics.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Example decisions: &lt;40% → Foundation; 40–59% → Guided Practice; 60–79% → Independent Practice; ≥80% → Challenge.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The repository includes database models, services, agent logic, UI, API and a basic automated test.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Teacher Assistant Agent — lesson plans, worksheets, activity ideas and differentiated content.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Assessment Agent — generate quizzes, evaluate answers and produce feedback.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Curriculum RAG — retrieve only approved Gujarat/state curriculum material.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Gujarati + English support — improve accessibility for local classrooms.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Student Knowledge Graph — model concepts, prerequisites and mastery relationships.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Early Support Detection — identify persistent learning gaps and alert teachers.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Voice interface — support students and teachers with limited typing ability.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Cloud deployment + PostgreSQL — support multiple schools and larger datasets.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rial"/>
              </a:defRPr>
            </a:pPr>
            <a:r>
              <a:t>Evaluation framework — measure recommendation accuracy, learning gains and teacher time saved.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Recommended repository name: ai-powered-personalized-learning-platform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Include: app.py, agents/, services/, database/, api/, ui/, scripts/, data/, tests/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Include README.md with setup, architecture, screenshots and demo instructions.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Add the project presentation and problem statement PDF.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Add a clear .gitignore and requirements.txt.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  <a:latin typeface="Arial"/>
              </a:defRPr>
            </a:pPr>
            <a:r>
              <a:t>Before submission: test the complete setup on a clean virtual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D69B4"/>
                </a:solidFill>
                <a:latin typeface="Arial"/>
              </a:defRPr>
            </a:pPr>
            <a:r>
              <a:t>GitHub: https://github.com/Sujal2812  (replace with the final project repository URL)</a:t>
            </a:r>
          </a:p>
        </p:txBody>
      </p:sp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Certificates / IBM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Add the relevant IBM / Credly certificate after completion.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Add IBM BOB certificate if issued for the engagement.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  <a:latin typeface="Arial"/>
              </a:defRPr>
            </a:pPr>
            <a:r>
              <a:t>Keep certificates as supporting evidence; the main presentation should focus on the working solution.</a:t>
            </a:r>
          </a:p>
        </p:txBody>
      </p:sp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10058400" cy="1508760"/>
          </a:xfrm>
          <a:prstGeom prst="roundRect">
            <a:avLst/>
          </a:prstGeom>
          <a:solidFill>
            <a:srgbClr val="EBF3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69B4"/>
                </a:solidFill>
                <a:latin typeface="Arial"/>
              </a:defRPr>
            </a:pPr>
            <a:r>
              <a:t>What the project delivers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An explainable, adaptive learning recommendation system that converts assessment evidence into the next best learning action for each student.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154680"/>
            <a:ext cx="475488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31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825F"/>
                </a:solidFill>
                <a:latin typeface="Arial"/>
              </a:defRPr>
            </a:pPr>
            <a:r>
              <a:t>Student impact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More relevant practice, appropriate difficulty and continuous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3154680"/>
            <a:ext cx="475488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822D"/>
                </a:solidFill>
                <a:latin typeface="Arial"/>
              </a:defRPr>
            </a:pPr>
            <a:r>
              <a:t>Teacher impact</a:t>
            </a:r>
          </a:p>
          <a:p>
            <a:pPr>
              <a:spcBef>
                <a:spcPts val="600"/>
              </a:spcBef>
              <a:defRPr sz="1400">
                <a:solidFill>
                  <a:srgbClr val="23282D"/>
                </a:solidFill>
                <a:latin typeface="Arial"/>
              </a:defRPr>
            </a:pPr>
            <a:r>
              <a:t>Faster identification of learning gaps and actionable topic-level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D4B"/>
                </a:solidFill>
                <a:latin typeface="Arial"/>
              </a:defRPr>
            </a:pPr>
            <a:r>
              <a:t>Next milestone: add curriculum RAG + IBM Granite/LangFlow orchestration after the core MVP is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revision>15</cp:revision>
  <dcterms:created xsi:type="dcterms:W3CDTF">2025-07-08T05:06:56Z</dcterms:created>
  <dcterms:modified xsi:type="dcterms:W3CDTF">2026-07-03T05:12:49Z</dcterms:modified>
</cp:coreProperties>
</file>