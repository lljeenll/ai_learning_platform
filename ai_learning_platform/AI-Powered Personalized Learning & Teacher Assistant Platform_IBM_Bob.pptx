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90"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11EEB5-54EE-4D04-AB52-0B6B32A2BCB6}" v="4" dt="2026-09-12T12:15:20.53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en chaudhari" userId="1bf031c259e0e184" providerId="LiveId" clId="{281BCADC-9E56-4337-A64F-D2D2B1E9E77F}"/>
    <pc:docChg chg="modSld">
      <pc:chgData name="jeen chaudhari" userId="1bf031c259e0e184" providerId="LiveId" clId="{281BCADC-9E56-4337-A64F-D2D2B1E9E77F}" dt="2026-09-12T12:16:04.945" v="10" actId="14100"/>
      <pc:docMkLst>
        <pc:docMk/>
      </pc:docMkLst>
      <pc:sldChg chg="modSp mod">
        <pc:chgData name="jeen chaudhari" userId="1bf031c259e0e184" providerId="LiveId" clId="{281BCADC-9E56-4337-A64F-D2D2B1E9E77F}" dt="2026-09-12T12:16:04.945" v="10" actId="14100"/>
        <pc:sldMkLst>
          <pc:docMk/>
          <pc:sldMk cId="0" sldId="257"/>
        </pc:sldMkLst>
        <pc:spChg chg="mod">
          <ac:chgData name="jeen chaudhari" userId="1bf031c259e0e184" providerId="LiveId" clId="{281BCADC-9E56-4337-A64F-D2D2B1E9E77F}" dt="2026-09-12T12:15:20.530" v="3"/>
          <ac:spMkLst>
            <pc:docMk/>
            <pc:sldMk cId="0" sldId="257"/>
            <ac:spMk id="4" creationId="{A828B9EF-C084-F5D4-CA27-75AF7D995640}"/>
          </ac:spMkLst>
        </pc:spChg>
        <pc:spChg chg="mod">
          <ac:chgData name="jeen chaudhari" userId="1bf031c259e0e184" providerId="LiveId" clId="{281BCADC-9E56-4337-A64F-D2D2B1E9E77F}" dt="2026-09-12T12:16:04.945" v="10" actId="14100"/>
          <ac:spMkLst>
            <pc:docMk/>
            <pc:sldMk cId="0" sldId="257"/>
            <ac:spMk id="5" creationId="{00000000-0000-0000-0000-000000000000}"/>
          </ac:spMkLst>
        </pc:spChg>
        <pc:spChg chg="mod">
          <ac:chgData name="jeen chaudhari" userId="1bf031c259e0e184" providerId="LiveId" clId="{281BCADC-9E56-4337-A64F-D2D2B1E9E77F}" dt="2026-09-12T12:15:27.389" v="8" actId="20577"/>
          <ac:spMkLst>
            <pc:docMk/>
            <pc:sldMk cId="0" sldId="257"/>
            <ac:spMk id="7" creationId="{3D723CA3-EC2D-165A-F109-3759C4E9C8A4}"/>
          </ac:spMkLst>
        </pc:spChg>
      </pc:sldChg>
      <pc:sldChg chg="modSp">
        <pc:chgData name="jeen chaudhari" userId="1bf031c259e0e184" providerId="LiveId" clId="{281BCADC-9E56-4337-A64F-D2D2B1E9E77F}" dt="2026-09-12T12:13:58.584" v="1"/>
        <pc:sldMkLst>
          <pc:docMk/>
          <pc:sldMk cId="957564641" sldId="283"/>
        </pc:sldMkLst>
        <pc:spChg chg="mod">
          <ac:chgData name="jeen chaudhari" userId="1bf031c259e0e184" providerId="LiveId" clId="{281BCADC-9E56-4337-A64F-D2D2B1E9E77F}" dt="2026-09-12T12:13:58.584" v="1"/>
          <ac:spMkLst>
            <pc:docMk/>
            <pc:sldMk cId="957564641" sldId="283"/>
            <ac:spMk id="3" creationId="{FFAB85A1-2169-FF43-3E91-E2E8ADA742F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402973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5185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5080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5629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6585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devmaktuporia@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a:latin typeface="Arial"/>
              </a:rPr>
              <a:t>IBM University Engagement Project Submission</a:t>
            </a: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28378" y="4463221"/>
            <a:ext cx="10515600" cy="1500187"/>
          </a:xfrm>
        </p:spPr>
        <p:txBody>
          <a:bodyPr/>
          <a:lstStyle/>
          <a:p>
            <a:pPr algn="ctr"/>
            <a:r>
              <a:rPr dirty="0">
                <a:latin typeface="Arial"/>
              </a:rPr>
              <a:t>“</a:t>
            </a:r>
            <a:r>
              <a:rPr lang="en-US" dirty="0">
                <a:latin typeface="Arial"/>
              </a:rPr>
              <a:t>AI-Powered Personalized Learning &amp; Teacher Assistant Platform </a:t>
            </a:r>
            <a:r>
              <a:rPr dirty="0">
                <a:latin typeface="Arial"/>
              </a:rPr>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sz="2400" b="1" dirty="0"/>
              <a:t>Domain of Project – </a:t>
            </a:r>
            <a:r>
              <a:rPr lang="en-IN" sz="2400" b="1" dirty="0"/>
              <a:t>Education </a:t>
            </a:r>
            <a:endParaRPr lang="en-IN" sz="40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954107"/>
          </a:xfrm>
          <a:prstGeom prst="rect">
            <a:avLst/>
          </a:prstGeom>
          <a:noFill/>
        </p:spPr>
        <p:txBody>
          <a:bodyPr wrap="square" rtlCol="0">
            <a:spAutoFit/>
          </a:bodyPr>
          <a:lstStyle/>
          <a:p>
            <a:r>
              <a:rPr sz="2800" b="1" dirty="0"/>
              <a:t>Project Title – </a:t>
            </a:r>
            <a:r>
              <a:rPr lang="en-US" sz="2800" b="1" dirty="0"/>
              <a:t>AI-Powered Personalized Learning &amp;      Teacher Assistant Platform </a:t>
            </a:r>
            <a:endParaRPr lang="en-IN" sz="4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dirty="0">
                <a:latin typeface="Arial"/>
              </a:rPr>
              <a:t>Student Name:</a:t>
            </a:r>
            <a:r>
              <a:rPr lang="en-IN" dirty="0">
                <a:latin typeface="Arial"/>
              </a:rPr>
              <a:t>Chaudhari Jeen D.</a:t>
            </a:r>
            <a:br>
              <a:rPr dirty="0"/>
            </a:br>
            <a:r>
              <a:rPr dirty="0">
                <a:latin typeface="Arial"/>
              </a:rPr>
              <a:t>Email ID: Mobile Number:</a:t>
            </a:r>
            <a:r>
              <a:rPr lang="en-IN" dirty="0">
                <a:latin typeface="Arial"/>
              </a:rPr>
              <a:t>6352974296</a:t>
            </a:r>
            <a:br>
              <a:rPr dirty="0"/>
            </a:br>
            <a:br>
              <a:rPr dirty="0"/>
            </a:br>
            <a:r>
              <a:rPr dirty="0">
                <a:latin typeface="Arial"/>
              </a:rPr>
              <a:t>Technology: IBM Bob + IBM Granite LLM + IBM Cloud</a:t>
            </a:r>
          </a:p>
        </p:txBody>
      </p:sp>
      <p:sp>
        <p:nvSpPr>
          <p:cNvPr id="5" name="TextBox 4"/>
          <p:cNvSpPr txBox="1"/>
          <p:nvPr/>
        </p:nvSpPr>
        <p:spPr>
          <a:xfrm>
            <a:off x="1497754" y="4049870"/>
            <a:ext cx="1791679" cy="307777"/>
          </a:xfrm>
          <a:prstGeom prst="rect">
            <a:avLst/>
          </a:prstGeom>
          <a:noFill/>
        </p:spPr>
        <p:txBody>
          <a:bodyPr wrap="square" rtlCol="0">
            <a:spAutoFit/>
          </a:bodyPr>
          <a:lstStyle/>
          <a:p>
            <a:r>
              <a:rPr lang="en-IN" dirty="0"/>
              <a:t>Chaudhari Jeen D. </a:t>
            </a:r>
            <a:endParaRPr lang="en-US" dirty="0"/>
          </a:p>
        </p:txBody>
      </p:sp>
      <p:sp>
        <p:nvSpPr>
          <p:cNvPr id="6" name="TextBox 5"/>
          <p:cNvSpPr txBox="1"/>
          <p:nvPr/>
        </p:nvSpPr>
        <p:spPr>
          <a:xfrm>
            <a:off x="5886614" y="3982146"/>
            <a:ext cx="2424873" cy="523220"/>
          </a:xfrm>
          <a:prstGeom prst="rect">
            <a:avLst/>
          </a:prstGeom>
          <a:noFill/>
        </p:spPr>
        <p:txBody>
          <a:bodyPr wrap="square" rtlCol="0">
            <a:spAutoFit/>
          </a:bodyPr>
          <a:lstStyle/>
          <a:p>
            <a:r>
              <a:rPr lang="en-US" dirty="0">
                <a:hlinkClick r:id="rId3"/>
              </a:rPr>
              <a:t>chaudharijeen@gmail.com</a:t>
            </a:r>
            <a:endParaRPr lang="en-US" dirty="0"/>
          </a:p>
          <a:p>
            <a:endParaRPr lang="en-US" dirty="0"/>
          </a:p>
        </p:txBody>
      </p:sp>
      <p:sp>
        <p:nvSpPr>
          <p:cNvPr id="8" name="TextBox 7"/>
          <p:cNvSpPr txBox="1"/>
          <p:nvPr/>
        </p:nvSpPr>
        <p:spPr>
          <a:xfrm>
            <a:off x="8849079" y="4019113"/>
            <a:ext cx="2251880" cy="307777"/>
          </a:xfrm>
          <a:prstGeom prst="rect">
            <a:avLst/>
          </a:prstGeom>
          <a:noFill/>
        </p:spPr>
        <p:txBody>
          <a:bodyPr wrap="square" rtlCol="0">
            <a:spAutoFit/>
          </a:bodyPr>
          <a:lstStyle/>
          <a:p>
            <a:r>
              <a:rPr lang="en-US" dirty="0"/>
              <a:t>6352974296</a:t>
            </a:r>
          </a:p>
        </p:txBody>
      </p:sp>
      <p:pic>
        <p:nvPicPr>
          <p:cNvPr id="10" name="Picture 9">
            <a:extLst>
              <a:ext uri="{FF2B5EF4-FFF2-40B4-BE49-F238E27FC236}">
                <a16:creationId xmlns:a16="http://schemas.microsoft.com/office/drawing/2014/main" id="{354F3D96-A299-4297-36A7-C535AB46FE8C}"/>
              </a:ext>
            </a:extLst>
          </p:cNvPr>
          <p:cNvPicPr>
            <a:picLocks noChangeAspect="1"/>
          </p:cNvPicPr>
          <p:nvPr/>
        </p:nvPicPr>
        <p:blipFill>
          <a:blip r:embed="rId4"/>
          <a:stretch>
            <a:fillRect/>
          </a:stretch>
        </p:blipFill>
        <p:spPr>
          <a:xfrm>
            <a:off x="4081605" y="3577136"/>
            <a:ext cx="1119659" cy="11903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616648"/>
          </a:xfrm>
          <a:prstGeom prst="rect">
            <a:avLst/>
          </a:prstGeom>
          <a:noFill/>
        </p:spPr>
        <p:txBody>
          <a:bodyPr wrap="square" rtlCol="0">
            <a:spAutoFit/>
          </a:bodyPr>
          <a:lstStyle/>
          <a:p>
            <a:pPr fontAlgn="base"/>
            <a:r>
              <a:rPr dirty="0">
                <a:latin typeface="Arial"/>
              </a:rPr>
              <a:t>Problem Statement: </a:t>
            </a:r>
            <a:r>
              <a:rPr lang="en-US" dirty="0"/>
              <a:t> AI-Powered Personalized Learning &amp; Teacher Assistant Platform</a:t>
            </a:r>
          </a:p>
          <a:p>
            <a:pPr fontAlgn="base"/>
            <a:br>
              <a:rPr dirty="0"/>
            </a:br>
            <a:r>
              <a:rPr lang="en-US" dirty="0"/>
              <a:t>The Challenge </a:t>
            </a:r>
          </a:p>
          <a:p>
            <a:pPr fontAlgn="base"/>
            <a:r>
              <a:rPr lang="en-US" dirty="0"/>
              <a:t>Many government and rural schools in Gujarat face challenges such as diverse student learning levels, limited access to personalized learning resources, increasing administrative workload for teachers, and insufficient real-time insights into student progress. Teachers require AI-powered assistance to create engaging lesson plans, assess student performance, and provide individualized learning support while reducing repetitive tasks</a:t>
            </a:r>
            <a:r>
              <a:rPr dirty="0">
                <a:latin typeface="Arial"/>
              </a:rPr>
              <a:t>.</a:t>
            </a:r>
            <a:br>
              <a:rPr dirty="0"/>
            </a:br>
            <a:br>
              <a:rPr dirty="0"/>
            </a:br>
            <a:r>
              <a:rPr dirty="0">
                <a:latin typeface="Arial"/>
              </a:rPr>
              <a:t>The Objective</a:t>
            </a:r>
            <a:br>
              <a:rPr dirty="0"/>
            </a:br>
            <a:r>
              <a:rPr lang="en-US" dirty="0"/>
              <a:t>Create Agentic AI solutions that personalize student learning experiences, assist teachers in lesson planning and content generation, automate assessment and feedback, identify students requiring additional support, and provide actionable insights to improve learning outcomes. </a:t>
            </a:r>
          </a:p>
          <a:p>
            <a:pPr fontAlgn="base"/>
            <a:br>
              <a:rPr dirty="0"/>
            </a:br>
            <a:r>
              <a:rPr lang="en-IN" dirty="0"/>
              <a:t>Suggested AI Agents </a:t>
            </a:r>
          </a:p>
          <a:p>
            <a:pPr fontAlgn="base"/>
            <a:r>
              <a:rPr lang="en-IN" dirty="0"/>
              <a:t>• Personalized Learning Recommendation Agent  </a:t>
            </a:r>
          </a:p>
          <a:p>
            <a:pPr fontAlgn="base"/>
            <a:r>
              <a:rPr lang="en-IN" dirty="0"/>
              <a:t>• AI Lesson Plan &amp; Content Generation Agent  </a:t>
            </a:r>
          </a:p>
          <a:p>
            <a:pPr fontAlgn="base"/>
            <a:r>
              <a:rPr lang="en-IN" dirty="0"/>
              <a:t>• Student Performance &amp; Learning Analytics Agent  </a:t>
            </a:r>
          </a:p>
          <a:p>
            <a:pPr fontAlgn="base"/>
            <a:r>
              <a:rPr lang="en-IN" dirty="0"/>
              <a:t>• Automated Assessment &amp; Feedback Agent  </a:t>
            </a:r>
          </a:p>
          <a:p>
            <a:pPr fontAlgn="base"/>
            <a:r>
              <a:rPr lang="en-IN" dirty="0"/>
              <a:t>• Teacher Assistant &amp; Classroom Support Agent  </a:t>
            </a:r>
          </a:p>
          <a:p>
            <a:pPr fontAlgn="base"/>
            <a:r>
              <a:rPr lang="en-IN" dirty="0"/>
              <a:t>• IBM </a:t>
            </a:r>
            <a:r>
              <a:rPr lang="en-IN" dirty="0" err="1"/>
              <a:t>SkillsBuild</a:t>
            </a:r>
            <a:r>
              <a:rPr lang="en-IN" dirty="0"/>
              <a:t> learning resources  </a:t>
            </a:r>
          </a:p>
          <a:p>
            <a:pPr fontAlgn="base"/>
            <a:r>
              <a:rPr lang="en-IN" dirty="0"/>
              <a:t>• Open Educational Resources (OER) </a:t>
            </a:r>
            <a:endParaRPr dirty="0">
              <a:latin typeface="Arial"/>
            </a:endParaRP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694256"/>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67917" y="1165753"/>
            <a:ext cx="10607040" cy="3611245"/>
          </a:xfrm>
          <a:prstGeom prst="rect">
            <a:avLst/>
          </a:prstGeom>
          <a:noFill/>
        </p:spPr>
        <p:txBody>
          <a:bodyPr wrap="square" rtlCol="0">
            <a:spAutoFit/>
          </a:bodyPr>
          <a:lstStyle/>
          <a:p>
            <a:pPr>
              <a:spcAft>
                <a:spcPts val="1000"/>
              </a:spcAft>
              <a:defRPr sz="1800">
                <a:solidFill>
                  <a:srgbClr val="23282D"/>
                </a:solidFill>
                <a:latin typeface="Arial"/>
              </a:defRPr>
            </a:pPr>
            <a:endParaRPr lang="en-US" dirty="0"/>
          </a:p>
          <a:p>
            <a:pPr>
              <a:spcAft>
                <a:spcPts val="1000"/>
              </a:spcAft>
              <a:defRPr sz="1800">
                <a:solidFill>
                  <a:srgbClr val="23282D"/>
                </a:solidFill>
                <a:latin typeface="Arial"/>
              </a:defRPr>
            </a:pPr>
            <a:endParaRPr lang="en-US" dirty="0"/>
          </a:p>
          <a:p>
            <a:pPr>
              <a:spcAft>
                <a:spcPts val="1000"/>
              </a:spcAft>
              <a:defRPr sz="1800">
                <a:solidFill>
                  <a:srgbClr val="23282D"/>
                </a:solidFill>
                <a:latin typeface="Arial"/>
              </a:defRPr>
            </a:pPr>
            <a:r>
              <a:rPr lang="en-US" dirty="0"/>
              <a:t>Create an AI-assisted platform that builds a learning profile for each student.</a:t>
            </a:r>
          </a:p>
          <a:p>
            <a:pPr>
              <a:spcAft>
                <a:spcPts val="1000"/>
              </a:spcAft>
              <a:defRPr sz="1800">
                <a:solidFill>
                  <a:srgbClr val="23282D"/>
                </a:solidFill>
                <a:latin typeface="Arial"/>
              </a:defRPr>
            </a:pPr>
            <a:r>
              <a:rPr lang="en-US" dirty="0"/>
              <a:t>Analyze assessment results and estimate mastery for each topic.</a:t>
            </a:r>
          </a:p>
          <a:p>
            <a:pPr>
              <a:spcAft>
                <a:spcPts val="1000"/>
              </a:spcAft>
              <a:defRPr sz="1800">
                <a:solidFill>
                  <a:srgbClr val="23282D"/>
                </a:solidFill>
                <a:latin typeface="Arial"/>
              </a:defRPr>
            </a:pPr>
            <a:r>
              <a:rPr lang="en-US" dirty="0"/>
              <a:t>Detect weak, developing, proficient and strong areas.</a:t>
            </a:r>
          </a:p>
          <a:p>
            <a:pPr>
              <a:spcAft>
                <a:spcPts val="1000"/>
              </a:spcAft>
              <a:defRPr sz="1800">
                <a:solidFill>
                  <a:srgbClr val="23282D"/>
                </a:solidFill>
                <a:latin typeface="Arial"/>
              </a:defRPr>
            </a:pPr>
            <a:r>
              <a:rPr lang="en-US" dirty="0"/>
              <a:t>Select the next learning action: foundation, guided practice, independent practice or challenge.</a:t>
            </a:r>
          </a:p>
          <a:p>
            <a:pPr>
              <a:spcAft>
                <a:spcPts val="1000"/>
              </a:spcAft>
              <a:defRPr sz="1800">
                <a:solidFill>
                  <a:srgbClr val="23282D"/>
                </a:solidFill>
                <a:latin typeface="Arial"/>
              </a:defRPr>
            </a:pPr>
            <a:r>
              <a:rPr lang="en-US" dirty="0"/>
              <a:t>Recommend curriculum-aligned learning resources at an appropriate difficulty.</a:t>
            </a:r>
          </a:p>
          <a:p>
            <a:pPr>
              <a:spcAft>
                <a:spcPts val="1000"/>
              </a:spcAft>
              <a:defRPr sz="1800">
                <a:solidFill>
                  <a:srgbClr val="23282D"/>
                </a:solidFill>
                <a:latin typeface="Arial"/>
              </a:defRPr>
            </a:pPr>
            <a:r>
              <a:rPr lang="en-US" dirty="0"/>
              <a:t>Provide teachers with students-needing-support lists and topic-wise performance insights.</a:t>
            </a:r>
          </a:p>
          <a:p>
            <a:pPr>
              <a:spcAft>
                <a:spcPts val="1000"/>
              </a:spcAft>
              <a:defRPr sz="1800">
                <a:solidFill>
                  <a:srgbClr val="23282D"/>
                </a:solidFill>
                <a:latin typeface="Arial"/>
              </a:defRPr>
            </a:pPr>
            <a:r>
              <a:rPr lang="en-US" dirty="0"/>
              <a:t>Use a human-in-the-loop approach: teachers can review and adapt recommendations.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4" name="Rounded Rectangle 2">
            <a:extLst>
              <a:ext uri="{FF2B5EF4-FFF2-40B4-BE49-F238E27FC236}">
                <a16:creationId xmlns:a16="http://schemas.microsoft.com/office/drawing/2014/main" id="{B4CC07BF-6AA8-50B1-E04D-CB07AB6439CF}"/>
              </a:ext>
            </a:extLst>
          </p:cNvPr>
          <p:cNvSpPr/>
          <p:nvPr/>
        </p:nvSpPr>
        <p:spPr>
          <a:xfrm>
            <a:off x="472440" y="1805940"/>
            <a:ext cx="2606040" cy="1417320"/>
          </a:xfrm>
          <a:prstGeom prst="roundRect">
            <a:avLst/>
          </a:prstGeom>
          <a:solidFill>
            <a:srgbClr val="EBF3FC"/>
          </a:solidFill>
          <a:ln>
            <a:solidFill>
              <a:srgbClr val="2D69B4"/>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2D69B4"/>
                </a:solidFill>
                <a:latin typeface="Arial"/>
              </a:defRPr>
            </a:pPr>
            <a:r>
              <a:t>Python</a:t>
            </a:r>
          </a:p>
          <a:p>
            <a:pPr>
              <a:spcBef>
                <a:spcPts val="600"/>
              </a:spcBef>
              <a:defRPr sz="1400">
                <a:solidFill>
                  <a:srgbClr val="23282D"/>
                </a:solidFill>
                <a:latin typeface="Arial"/>
              </a:defRPr>
            </a:pPr>
            <a:r>
              <a:t>Core application and recommendation logic</a:t>
            </a:r>
          </a:p>
        </p:txBody>
      </p:sp>
      <p:sp>
        <p:nvSpPr>
          <p:cNvPr id="5" name="Rounded Rectangle 3">
            <a:extLst>
              <a:ext uri="{FF2B5EF4-FFF2-40B4-BE49-F238E27FC236}">
                <a16:creationId xmlns:a16="http://schemas.microsoft.com/office/drawing/2014/main" id="{8CA9D205-8D77-5D1D-4530-BAE8385AA6F6}"/>
              </a:ext>
            </a:extLst>
          </p:cNvPr>
          <p:cNvSpPr/>
          <p:nvPr/>
        </p:nvSpPr>
        <p:spPr>
          <a:xfrm>
            <a:off x="3352800" y="1805940"/>
            <a:ext cx="2606040" cy="1417320"/>
          </a:xfrm>
          <a:prstGeom prst="roundRect">
            <a:avLst/>
          </a:prstGeom>
          <a:solidFill>
            <a:srgbClr val="EBF3FC"/>
          </a:solidFill>
          <a:ln>
            <a:solidFill>
              <a:srgbClr val="31825F"/>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31825F"/>
                </a:solidFill>
                <a:latin typeface="Arial"/>
              </a:defRPr>
            </a:pPr>
            <a:r>
              <a:t>Streamlit</a:t>
            </a:r>
          </a:p>
          <a:p>
            <a:pPr>
              <a:spcBef>
                <a:spcPts val="600"/>
              </a:spcBef>
              <a:defRPr sz="1400">
                <a:solidFill>
                  <a:srgbClr val="23282D"/>
                </a:solidFill>
                <a:latin typeface="Arial"/>
              </a:defRPr>
            </a:pPr>
            <a:r>
              <a:t>Lightweight student + teacher dashboard</a:t>
            </a:r>
          </a:p>
        </p:txBody>
      </p:sp>
      <p:sp>
        <p:nvSpPr>
          <p:cNvPr id="6" name="Rounded Rectangle 4">
            <a:extLst>
              <a:ext uri="{FF2B5EF4-FFF2-40B4-BE49-F238E27FC236}">
                <a16:creationId xmlns:a16="http://schemas.microsoft.com/office/drawing/2014/main" id="{8596BF46-28FB-5F2D-EC5B-EB011324D50B}"/>
              </a:ext>
            </a:extLst>
          </p:cNvPr>
          <p:cNvSpPr/>
          <p:nvPr/>
        </p:nvSpPr>
        <p:spPr>
          <a:xfrm>
            <a:off x="6233160" y="1805940"/>
            <a:ext cx="2606040" cy="1417320"/>
          </a:xfrm>
          <a:prstGeom prst="roundRect">
            <a:avLst/>
          </a:prstGeom>
          <a:solidFill>
            <a:srgbClr val="EBF3FC"/>
          </a:solidFill>
          <a:ln>
            <a:solidFill>
              <a:srgbClr val="DC822D"/>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DC822D"/>
                </a:solidFill>
                <a:latin typeface="Arial"/>
              </a:defRPr>
            </a:pPr>
            <a:r>
              <a:t>FastAPI</a:t>
            </a:r>
          </a:p>
          <a:p>
            <a:pPr>
              <a:spcBef>
                <a:spcPts val="600"/>
              </a:spcBef>
              <a:defRPr sz="1400">
                <a:solidFill>
                  <a:srgbClr val="23282D"/>
                </a:solidFill>
                <a:latin typeface="Arial"/>
              </a:defRPr>
            </a:pPr>
            <a:r>
              <a:t>Optional REST API layer</a:t>
            </a:r>
          </a:p>
        </p:txBody>
      </p:sp>
      <p:sp>
        <p:nvSpPr>
          <p:cNvPr id="7" name="Rounded Rectangle 5">
            <a:extLst>
              <a:ext uri="{FF2B5EF4-FFF2-40B4-BE49-F238E27FC236}">
                <a16:creationId xmlns:a16="http://schemas.microsoft.com/office/drawing/2014/main" id="{9ED1E993-8D67-00C3-92F7-4D6979918609}"/>
              </a:ext>
            </a:extLst>
          </p:cNvPr>
          <p:cNvSpPr/>
          <p:nvPr/>
        </p:nvSpPr>
        <p:spPr>
          <a:xfrm>
            <a:off x="9113520" y="1805940"/>
            <a:ext cx="2606040" cy="1417320"/>
          </a:xfrm>
          <a:prstGeom prst="roundRect">
            <a:avLst/>
          </a:prstGeom>
          <a:solidFill>
            <a:srgbClr val="EBF3FC"/>
          </a:solidFill>
          <a:ln>
            <a:solidFill>
              <a:srgbClr val="2D69B4"/>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2D69B4"/>
                </a:solidFill>
                <a:latin typeface="Arial"/>
              </a:defRPr>
            </a:pPr>
            <a:r>
              <a:t>SQLite + SQLAlchemy</a:t>
            </a:r>
          </a:p>
          <a:p>
            <a:pPr>
              <a:spcBef>
                <a:spcPts val="600"/>
              </a:spcBef>
              <a:defRPr sz="1400">
                <a:solidFill>
                  <a:srgbClr val="23282D"/>
                </a:solidFill>
                <a:latin typeface="Arial"/>
              </a:defRPr>
            </a:pPr>
            <a:r>
              <a:t>Local structured storage for the MVP</a:t>
            </a:r>
          </a:p>
        </p:txBody>
      </p:sp>
      <p:sp>
        <p:nvSpPr>
          <p:cNvPr id="8" name="Rounded Rectangle 6">
            <a:extLst>
              <a:ext uri="{FF2B5EF4-FFF2-40B4-BE49-F238E27FC236}">
                <a16:creationId xmlns:a16="http://schemas.microsoft.com/office/drawing/2014/main" id="{0706B5BD-0669-6BAB-AEDC-CF6DCA6FDFA4}"/>
              </a:ext>
            </a:extLst>
          </p:cNvPr>
          <p:cNvSpPr/>
          <p:nvPr/>
        </p:nvSpPr>
        <p:spPr>
          <a:xfrm>
            <a:off x="472440" y="3634740"/>
            <a:ext cx="2606040" cy="1417320"/>
          </a:xfrm>
          <a:prstGeom prst="roundRect">
            <a:avLst/>
          </a:prstGeom>
          <a:solidFill>
            <a:srgbClr val="EBF3FC"/>
          </a:solidFill>
          <a:ln>
            <a:solidFill>
              <a:srgbClr val="31825F"/>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31825F"/>
                </a:solidFill>
                <a:latin typeface="Arial"/>
              </a:defRPr>
            </a:pPr>
            <a:r>
              <a:t>scikit-learn</a:t>
            </a:r>
          </a:p>
          <a:p>
            <a:pPr>
              <a:spcBef>
                <a:spcPts val="600"/>
              </a:spcBef>
              <a:defRPr sz="1400">
                <a:solidFill>
                  <a:srgbClr val="23282D"/>
                </a:solidFill>
                <a:latin typeface="Arial"/>
              </a:defRPr>
            </a:pPr>
            <a:r>
              <a:t>Optional ML/ranking layer for later experimentation</a:t>
            </a:r>
          </a:p>
        </p:txBody>
      </p:sp>
      <p:sp>
        <p:nvSpPr>
          <p:cNvPr id="9" name="Rounded Rectangle 7">
            <a:extLst>
              <a:ext uri="{FF2B5EF4-FFF2-40B4-BE49-F238E27FC236}">
                <a16:creationId xmlns:a16="http://schemas.microsoft.com/office/drawing/2014/main" id="{4A94462B-6CE1-9765-6A24-28A55F2074DE}"/>
              </a:ext>
            </a:extLst>
          </p:cNvPr>
          <p:cNvSpPr/>
          <p:nvPr/>
        </p:nvSpPr>
        <p:spPr>
          <a:xfrm>
            <a:off x="3352800" y="3634740"/>
            <a:ext cx="2606040" cy="1417320"/>
          </a:xfrm>
          <a:prstGeom prst="roundRect">
            <a:avLst/>
          </a:prstGeom>
          <a:solidFill>
            <a:srgbClr val="EBF3FC"/>
          </a:solidFill>
          <a:ln>
            <a:solidFill>
              <a:srgbClr val="DC822D"/>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DC822D"/>
                </a:solidFill>
                <a:latin typeface="Arial"/>
              </a:defRPr>
            </a:pPr>
            <a:r>
              <a:t>IBM Granite + LangFlow</a:t>
            </a:r>
          </a:p>
          <a:p>
            <a:pPr>
              <a:spcBef>
                <a:spcPts val="600"/>
              </a:spcBef>
              <a:defRPr sz="1400">
                <a:solidFill>
                  <a:srgbClr val="23282D"/>
                </a:solidFill>
                <a:latin typeface="Arial"/>
              </a:defRPr>
            </a:pPr>
            <a:r>
              <a:t>Planned/next-stage LLM and agent orchestration layer</a:t>
            </a:r>
          </a:p>
        </p:txBody>
      </p:sp>
      <p:sp>
        <p:nvSpPr>
          <p:cNvPr id="10" name="Rounded Rectangle 8">
            <a:extLst>
              <a:ext uri="{FF2B5EF4-FFF2-40B4-BE49-F238E27FC236}">
                <a16:creationId xmlns:a16="http://schemas.microsoft.com/office/drawing/2014/main" id="{0A0BA9FE-94ED-EFCB-8298-76F5E4CFFA35}"/>
              </a:ext>
            </a:extLst>
          </p:cNvPr>
          <p:cNvSpPr/>
          <p:nvPr/>
        </p:nvSpPr>
        <p:spPr>
          <a:xfrm>
            <a:off x="6233160" y="3634740"/>
            <a:ext cx="2606040" cy="1417320"/>
          </a:xfrm>
          <a:prstGeom prst="roundRect">
            <a:avLst/>
          </a:prstGeom>
          <a:solidFill>
            <a:srgbClr val="EBF3FC"/>
          </a:solidFill>
          <a:ln>
            <a:solidFill>
              <a:srgbClr val="2D69B4"/>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2D69B4"/>
                </a:solidFill>
                <a:latin typeface="Arial"/>
              </a:defRPr>
            </a:pPr>
            <a:r>
              <a:t>RAG</a:t>
            </a:r>
          </a:p>
          <a:p>
            <a:pPr>
              <a:spcBef>
                <a:spcPts val="600"/>
              </a:spcBef>
              <a:defRPr sz="1400">
                <a:solidFill>
                  <a:srgbClr val="23282D"/>
                </a:solidFill>
                <a:latin typeface="Arial"/>
              </a:defRPr>
            </a:pPr>
            <a:r>
              <a:t>Future curriculum-content retrieval layer using approved school material</a:t>
            </a:r>
          </a:p>
        </p:txBody>
      </p:sp>
      <p:sp>
        <p:nvSpPr>
          <p:cNvPr id="11" name="Rounded Rectangle 9">
            <a:extLst>
              <a:ext uri="{FF2B5EF4-FFF2-40B4-BE49-F238E27FC236}">
                <a16:creationId xmlns:a16="http://schemas.microsoft.com/office/drawing/2014/main" id="{CC4D8A0A-FD6E-3BD3-67CB-20B63DB65555}"/>
              </a:ext>
            </a:extLst>
          </p:cNvPr>
          <p:cNvSpPr/>
          <p:nvPr/>
        </p:nvSpPr>
        <p:spPr>
          <a:xfrm>
            <a:off x="9113520" y="3634740"/>
            <a:ext cx="2606040" cy="1417320"/>
          </a:xfrm>
          <a:prstGeom prst="roundRect">
            <a:avLst/>
          </a:prstGeom>
          <a:solidFill>
            <a:srgbClr val="EBF3FC"/>
          </a:solidFill>
          <a:ln>
            <a:solidFill>
              <a:srgbClr val="31825F"/>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31825F"/>
                </a:solidFill>
                <a:latin typeface="Arial"/>
              </a:defRPr>
            </a:pPr>
            <a:r>
              <a:t>Vector Database</a:t>
            </a:r>
          </a:p>
          <a:p>
            <a:pPr>
              <a:spcBef>
                <a:spcPts val="600"/>
              </a:spcBef>
              <a:defRPr sz="1400">
                <a:solidFill>
                  <a:srgbClr val="23282D"/>
                </a:solidFill>
                <a:latin typeface="Arial"/>
              </a:defRPr>
            </a:pPr>
            <a:r>
              <a:t>Future semantic retrieval for curriculum resources</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3760004"/>
          </a:xfrm>
          <a:prstGeom prst="rect">
            <a:avLst/>
          </a:prstGeom>
          <a:noFill/>
        </p:spPr>
        <p:txBody>
          <a:bodyPr wrap="square" rtlCol="0">
            <a:spAutoFit/>
          </a:bodyPr>
          <a:lstStyle/>
          <a:p>
            <a:pPr>
              <a:spcAft>
                <a:spcPts val="1000"/>
              </a:spcAft>
              <a:defRPr sz="1800">
                <a:solidFill>
                  <a:srgbClr val="23282D"/>
                </a:solidFill>
                <a:latin typeface="Arial"/>
              </a:defRPr>
            </a:pPr>
            <a:endParaRPr lang="en-US" dirty="0"/>
          </a:p>
          <a:p>
            <a:pPr>
              <a:spcAft>
                <a:spcPts val="1000"/>
              </a:spcAft>
              <a:defRPr sz="1800">
                <a:solidFill>
                  <a:srgbClr val="23282D"/>
                </a:solidFill>
                <a:latin typeface="Arial"/>
              </a:defRPr>
            </a:pPr>
            <a:endParaRPr lang="en-US" dirty="0"/>
          </a:p>
          <a:p>
            <a:pPr>
              <a:spcAft>
                <a:spcPts val="1000"/>
              </a:spcAft>
              <a:defRPr sz="1800">
                <a:solidFill>
                  <a:srgbClr val="23282D"/>
                </a:solidFill>
                <a:latin typeface="Arial"/>
              </a:defRPr>
            </a:pPr>
            <a:r>
              <a:rPr lang="en-US" dirty="0"/>
              <a:t>Chat/Input component — receives student or teacher questions and learning context.</a:t>
            </a:r>
          </a:p>
          <a:p>
            <a:pPr>
              <a:spcAft>
                <a:spcPts val="1000"/>
              </a:spcAft>
              <a:defRPr sz="1800">
                <a:solidFill>
                  <a:srgbClr val="23282D"/>
                </a:solidFill>
                <a:latin typeface="Arial"/>
              </a:defRPr>
            </a:pPr>
            <a:r>
              <a:rPr lang="en-US" dirty="0"/>
              <a:t>Agent component — coordinates reasoning and chooses the next learning action.</a:t>
            </a:r>
          </a:p>
          <a:p>
            <a:pPr>
              <a:spcAft>
                <a:spcPts val="1000"/>
              </a:spcAft>
              <a:defRPr sz="1800">
                <a:solidFill>
                  <a:srgbClr val="23282D"/>
                </a:solidFill>
                <a:latin typeface="Arial"/>
              </a:defRPr>
            </a:pPr>
            <a:r>
              <a:rPr lang="en-US" dirty="0"/>
              <a:t>IBM Granite model — planned for natural-language reasoning, explanation and content generation.</a:t>
            </a:r>
          </a:p>
          <a:p>
            <a:pPr>
              <a:spcAft>
                <a:spcPts val="1000"/>
              </a:spcAft>
              <a:defRPr sz="1800">
                <a:solidFill>
                  <a:srgbClr val="23282D"/>
                </a:solidFill>
                <a:latin typeface="Arial"/>
              </a:defRPr>
            </a:pPr>
            <a:r>
              <a:rPr lang="en-US" dirty="0"/>
              <a:t>Retriever / Vector Store — future component for curriculum-aligned RAG.</a:t>
            </a:r>
          </a:p>
          <a:p>
            <a:pPr>
              <a:spcAft>
                <a:spcPts val="1000"/>
              </a:spcAft>
              <a:defRPr sz="1800">
                <a:solidFill>
                  <a:srgbClr val="23282D"/>
                </a:solidFill>
                <a:latin typeface="Arial"/>
              </a:defRPr>
            </a:pPr>
            <a:r>
              <a:rPr lang="en-US" dirty="0"/>
              <a:t>File / Data components — ingest approved lesson plans, worksheets and resource metadata.</a:t>
            </a:r>
          </a:p>
          <a:p>
            <a:pPr>
              <a:spcAft>
                <a:spcPts val="1000"/>
              </a:spcAft>
              <a:defRPr sz="1800">
                <a:solidFill>
                  <a:srgbClr val="23282D"/>
                </a:solidFill>
                <a:latin typeface="Arial"/>
              </a:defRPr>
            </a:pPr>
            <a:r>
              <a:rPr lang="en-US" dirty="0"/>
              <a:t>Output component — returns a personalized recommendation with an explanation.</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a:latin typeface="Arial"/>
              </a:rPr>
              <a:t>Agentic AI Workflow</a:t>
            </a:r>
            <a:endParaRPr sz="2400" b="1">
              <a:sym typeface="Times New Roman"/>
            </a:endParaRPr>
          </a:p>
        </p:txBody>
      </p:sp>
      <p:sp>
        <p:nvSpPr>
          <p:cNvPr id="4" name="Rounded Rectangle 2">
            <a:extLst>
              <a:ext uri="{FF2B5EF4-FFF2-40B4-BE49-F238E27FC236}">
                <a16:creationId xmlns:a16="http://schemas.microsoft.com/office/drawing/2014/main" id="{A2D75463-0EAD-1BA8-E4A6-4EBF2373ACF0}"/>
              </a:ext>
            </a:extLst>
          </p:cNvPr>
          <p:cNvSpPr/>
          <p:nvPr/>
        </p:nvSpPr>
        <p:spPr>
          <a:xfrm>
            <a:off x="472440" y="1577340"/>
            <a:ext cx="1508760" cy="1097280"/>
          </a:xfrm>
          <a:prstGeom prst="roundRect">
            <a:avLst/>
          </a:prstGeom>
          <a:solidFill>
            <a:srgbClr val="EBF3FC"/>
          </a:solidFill>
          <a:ln>
            <a:solidFill>
              <a:srgbClr val="2D69B4"/>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200" b="1">
                <a:solidFill>
                  <a:srgbClr val="23282D"/>
                </a:solidFill>
                <a:latin typeface="Arial"/>
              </a:defRPr>
            </a:pPr>
            <a:r>
              <a:t>Student</a:t>
            </a:r>
            <a:br/>
            <a:r>
              <a:t>Profile</a:t>
            </a:r>
          </a:p>
        </p:txBody>
      </p:sp>
      <p:sp>
        <p:nvSpPr>
          <p:cNvPr id="5" name="Rounded Rectangle 3">
            <a:extLst>
              <a:ext uri="{FF2B5EF4-FFF2-40B4-BE49-F238E27FC236}">
                <a16:creationId xmlns:a16="http://schemas.microsoft.com/office/drawing/2014/main" id="{0EA2DBCC-C11F-817E-832A-A91152942F86}"/>
              </a:ext>
            </a:extLst>
          </p:cNvPr>
          <p:cNvSpPr/>
          <p:nvPr/>
        </p:nvSpPr>
        <p:spPr>
          <a:xfrm>
            <a:off x="2484120" y="1577340"/>
            <a:ext cx="1508760" cy="1097280"/>
          </a:xfrm>
          <a:prstGeom prst="roundRect">
            <a:avLst/>
          </a:prstGeom>
          <a:solidFill>
            <a:srgbClr val="EBF3FC"/>
          </a:solidFill>
          <a:ln>
            <a:solidFill>
              <a:srgbClr val="2D69B4"/>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200" b="1">
                <a:solidFill>
                  <a:srgbClr val="23282D"/>
                </a:solidFill>
                <a:latin typeface="Arial"/>
              </a:defRPr>
            </a:pPr>
            <a:r>
              <a:t>Assessment</a:t>
            </a:r>
            <a:br/>
            <a:r>
              <a:t>Results</a:t>
            </a:r>
          </a:p>
        </p:txBody>
      </p:sp>
      <p:sp>
        <p:nvSpPr>
          <p:cNvPr id="6" name="Rounded Rectangle 4">
            <a:extLst>
              <a:ext uri="{FF2B5EF4-FFF2-40B4-BE49-F238E27FC236}">
                <a16:creationId xmlns:a16="http://schemas.microsoft.com/office/drawing/2014/main" id="{D7C4FB16-F6C2-35D7-A51F-55775986BD9F}"/>
              </a:ext>
            </a:extLst>
          </p:cNvPr>
          <p:cNvSpPr/>
          <p:nvPr/>
        </p:nvSpPr>
        <p:spPr>
          <a:xfrm>
            <a:off x="4495800" y="1577340"/>
            <a:ext cx="1508760" cy="1097280"/>
          </a:xfrm>
          <a:prstGeom prst="roundRect">
            <a:avLst/>
          </a:prstGeom>
          <a:solidFill>
            <a:srgbClr val="EBF3FC"/>
          </a:solidFill>
          <a:ln>
            <a:solidFill>
              <a:srgbClr val="2D69B4"/>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200" b="1">
                <a:solidFill>
                  <a:srgbClr val="23282D"/>
                </a:solidFill>
                <a:latin typeface="Arial"/>
              </a:defRPr>
            </a:pPr>
            <a:r>
              <a:t>Mastery</a:t>
            </a:r>
            <a:br/>
            <a:r>
              <a:t>Estimation</a:t>
            </a:r>
          </a:p>
        </p:txBody>
      </p:sp>
      <p:sp>
        <p:nvSpPr>
          <p:cNvPr id="7" name="Rounded Rectangle 5">
            <a:extLst>
              <a:ext uri="{FF2B5EF4-FFF2-40B4-BE49-F238E27FC236}">
                <a16:creationId xmlns:a16="http://schemas.microsoft.com/office/drawing/2014/main" id="{CCC25CE2-A6FC-B622-96F3-2C9440B50345}"/>
              </a:ext>
            </a:extLst>
          </p:cNvPr>
          <p:cNvSpPr/>
          <p:nvPr/>
        </p:nvSpPr>
        <p:spPr>
          <a:xfrm>
            <a:off x="6507480" y="1577340"/>
            <a:ext cx="1508760" cy="1097280"/>
          </a:xfrm>
          <a:prstGeom prst="roundRect">
            <a:avLst/>
          </a:prstGeom>
          <a:solidFill>
            <a:srgbClr val="EBF3FC"/>
          </a:solidFill>
          <a:ln>
            <a:solidFill>
              <a:srgbClr val="2D69B4"/>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200" b="1">
                <a:solidFill>
                  <a:srgbClr val="23282D"/>
                </a:solidFill>
                <a:latin typeface="Arial"/>
              </a:defRPr>
            </a:pPr>
            <a:r>
              <a:t>Weak Topic</a:t>
            </a:r>
            <a:br/>
            <a:r>
              <a:t>Detection</a:t>
            </a:r>
          </a:p>
        </p:txBody>
      </p:sp>
      <p:sp>
        <p:nvSpPr>
          <p:cNvPr id="8" name="Rounded Rectangle 6">
            <a:extLst>
              <a:ext uri="{FF2B5EF4-FFF2-40B4-BE49-F238E27FC236}">
                <a16:creationId xmlns:a16="http://schemas.microsoft.com/office/drawing/2014/main" id="{E6C62301-C6E8-DC4C-514F-E1FF8C1491B1}"/>
              </a:ext>
            </a:extLst>
          </p:cNvPr>
          <p:cNvSpPr/>
          <p:nvPr/>
        </p:nvSpPr>
        <p:spPr>
          <a:xfrm>
            <a:off x="8519160" y="1577340"/>
            <a:ext cx="1508760" cy="1097280"/>
          </a:xfrm>
          <a:prstGeom prst="roundRect">
            <a:avLst/>
          </a:prstGeom>
          <a:solidFill>
            <a:srgbClr val="EBF3FC"/>
          </a:solidFill>
          <a:ln>
            <a:solidFill>
              <a:srgbClr val="2D69B4"/>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200" b="1">
                <a:solidFill>
                  <a:srgbClr val="23282D"/>
                </a:solidFill>
                <a:latin typeface="Arial"/>
              </a:defRPr>
            </a:pPr>
            <a:r>
              <a:t>Action &amp; Resource</a:t>
            </a:r>
            <a:br/>
            <a:r>
              <a:t>Selection</a:t>
            </a:r>
          </a:p>
        </p:txBody>
      </p:sp>
      <p:sp>
        <p:nvSpPr>
          <p:cNvPr id="9" name="Rounded Rectangle 7">
            <a:extLst>
              <a:ext uri="{FF2B5EF4-FFF2-40B4-BE49-F238E27FC236}">
                <a16:creationId xmlns:a16="http://schemas.microsoft.com/office/drawing/2014/main" id="{A39FFD29-4794-0BFF-F7BA-E7CC2AE9C678}"/>
              </a:ext>
            </a:extLst>
          </p:cNvPr>
          <p:cNvSpPr/>
          <p:nvPr/>
        </p:nvSpPr>
        <p:spPr>
          <a:xfrm>
            <a:off x="10210800" y="1577340"/>
            <a:ext cx="1508760" cy="1097280"/>
          </a:xfrm>
          <a:prstGeom prst="roundRect">
            <a:avLst/>
          </a:prstGeom>
          <a:solidFill>
            <a:srgbClr val="EBF3FC"/>
          </a:solidFill>
          <a:ln>
            <a:solidFill>
              <a:srgbClr val="2D69B4"/>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200" b="1">
                <a:solidFill>
                  <a:srgbClr val="23282D"/>
                </a:solidFill>
                <a:latin typeface="Arial"/>
              </a:defRPr>
            </a:pPr>
            <a:r>
              <a:t>Personalized</a:t>
            </a:r>
            <a:br/>
            <a:r>
              <a:t>Recommendation</a:t>
            </a:r>
          </a:p>
        </p:txBody>
      </p:sp>
      <p:cxnSp>
        <p:nvCxnSpPr>
          <p:cNvPr id="10" name="Connector 8">
            <a:extLst>
              <a:ext uri="{FF2B5EF4-FFF2-40B4-BE49-F238E27FC236}">
                <a16:creationId xmlns:a16="http://schemas.microsoft.com/office/drawing/2014/main" id="{5AA9CD53-7623-A94F-A5A3-A427BE0E0B19}"/>
              </a:ext>
            </a:extLst>
          </p:cNvPr>
          <p:cNvCxnSpPr/>
          <p:nvPr/>
        </p:nvCxnSpPr>
        <p:spPr>
          <a:xfrm>
            <a:off x="1981200" y="2125980"/>
            <a:ext cx="502920" cy="0"/>
          </a:xfrm>
          <a:prstGeom prst="line">
            <a:avLst/>
          </a:prstGeom>
          <a:ln w="31750">
            <a:solidFill>
              <a:srgbClr val="2D69B4"/>
            </a:solidFill>
          </a:ln>
        </p:spPr>
        <p:style>
          <a:lnRef idx="2">
            <a:schemeClr val="accent1"/>
          </a:lnRef>
          <a:fillRef idx="0">
            <a:schemeClr val="accent1"/>
          </a:fillRef>
          <a:effectRef idx="1">
            <a:schemeClr val="accent1"/>
          </a:effectRef>
          <a:fontRef idx="minor">
            <a:schemeClr val="tx1"/>
          </a:fontRef>
        </p:style>
      </p:cxnSp>
      <p:cxnSp>
        <p:nvCxnSpPr>
          <p:cNvPr id="11" name="Connector 9">
            <a:extLst>
              <a:ext uri="{FF2B5EF4-FFF2-40B4-BE49-F238E27FC236}">
                <a16:creationId xmlns:a16="http://schemas.microsoft.com/office/drawing/2014/main" id="{6333CD3A-D9A4-6EB1-7237-018DB41C6166}"/>
              </a:ext>
            </a:extLst>
          </p:cNvPr>
          <p:cNvCxnSpPr/>
          <p:nvPr/>
        </p:nvCxnSpPr>
        <p:spPr>
          <a:xfrm>
            <a:off x="3992880" y="2125980"/>
            <a:ext cx="502920" cy="0"/>
          </a:xfrm>
          <a:prstGeom prst="line">
            <a:avLst/>
          </a:prstGeom>
          <a:ln w="31750">
            <a:solidFill>
              <a:srgbClr val="2D69B4"/>
            </a:solidFill>
          </a:ln>
        </p:spPr>
        <p:style>
          <a:lnRef idx="2">
            <a:schemeClr val="accent1"/>
          </a:lnRef>
          <a:fillRef idx="0">
            <a:schemeClr val="accent1"/>
          </a:fillRef>
          <a:effectRef idx="1">
            <a:schemeClr val="accent1"/>
          </a:effectRef>
          <a:fontRef idx="minor">
            <a:schemeClr val="tx1"/>
          </a:fontRef>
        </p:style>
      </p:cxnSp>
      <p:cxnSp>
        <p:nvCxnSpPr>
          <p:cNvPr id="12" name="Connector 10">
            <a:extLst>
              <a:ext uri="{FF2B5EF4-FFF2-40B4-BE49-F238E27FC236}">
                <a16:creationId xmlns:a16="http://schemas.microsoft.com/office/drawing/2014/main" id="{608FAA91-7D4E-DF24-006B-3D37DE90118F}"/>
              </a:ext>
            </a:extLst>
          </p:cNvPr>
          <p:cNvCxnSpPr/>
          <p:nvPr/>
        </p:nvCxnSpPr>
        <p:spPr>
          <a:xfrm>
            <a:off x="6004560" y="2125980"/>
            <a:ext cx="502920" cy="0"/>
          </a:xfrm>
          <a:prstGeom prst="line">
            <a:avLst/>
          </a:prstGeom>
          <a:ln w="31750">
            <a:solidFill>
              <a:srgbClr val="2D69B4"/>
            </a:solidFill>
          </a:ln>
        </p:spPr>
        <p:style>
          <a:lnRef idx="2">
            <a:schemeClr val="accent1"/>
          </a:lnRef>
          <a:fillRef idx="0">
            <a:schemeClr val="accent1"/>
          </a:fillRef>
          <a:effectRef idx="1">
            <a:schemeClr val="accent1"/>
          </a:effectRef>
          <a:fontRef idx="minor">
            <a:schemeClr val="tx1"/>
          </a:fontRef>
        </p:style>
      </p:cxnSp>
      <p:cxnSp>
        <p:nvCxnSpPr>
          <p:cNvPr id="13" name="Connector 11">
            <a:extLst>
              <a:ext uri="{FF2B5EF4-FFF2-40B4-BE49-F238E27FC236}">
                <a16:creationId xmlns:a16="http://schemas.microsoft.com/office/drawing/2014/main" id="{9DCC3F2B-D1AB-4FE1-5056-5F7F9825B60B}"/>
              </a:ext>
            </a:extLst>
          </p:cNvPr>
          <p:cNvCxnSpPr/>
          <p:nvPr/>
        </p:nvCxnSpPr>
        <p:spPr>
          <a:xfrm>
            <a:off x="8016239" y="2125980"/>
            <a:ext cx="502921" cy="0"/>
          </a:xfrm>
          <a:prstGeom prst="line">
            <a:avLst/>
          </a:prstGeom>
          <a:ln w="31750">
            <a:solidFill>
              <a:srgbClr val="2D69B4"/>
            </a:solidFill>
          </a:ln>
        </p:spPr>
        <p:style>
          <a:lnRef idx="2">
            <a:schemeClr val="accent1"/>
          </a:lnRef>
          <a:fillRef idx="0">
            <a:schemeClr val="accent1"/>
          </a:fillRef>
          <a:effectRef idx="1">
            <a:schemeClr val="accent1"/>
          </a:effectRef>
          <a:fontRef idx="minor">
            <a:schemeClr val="tx1"/>
          </a:fontRef>
        </p:style>
      </p:cxnSp>
      <p:cxnSp>
        <p:nvCxnSpPr>
          <p:cNvPr id="14" name="Connector 12">
            <a:extLst>
              <a:ext uri="{FF2B5EF4-FFF2-40B4-BE49-F238E27FC236}">
                <a16:creationId xmlns:a16="http://schemas.microsoft.com/office/drawing/2014/main" id="{D5E14CC1-EBA1-835F-D0A4-5011813431AF}"/>
              </a:ext>
            </a:extLst>
          </p:cNvPr>
          <p:cNvCxnSpPr/>
          <p:nvPr/>
        </p:nvCxnSpPr>
        <p:spPr>
          <a:xfrm>
            <a:off x="10027920" y="2125980"/>
            <a:ext cx="182880" cy="0"/>
          </a:xfrm>
          <a:prstGeom prst="line">
            <a:avLst/>
          </a:prstGeom>
          <a:ln w="31750">
            <a:solidFill>
              <a:srgbClr val="2D69B4"/>
            </a:solidFill>
          </a:ln>
        </p:spPr>
        <p:style>
          <a:lnRef idx="2">
            <a:schemeClr val="accent1"/>
          </a:lnRef>
          <a:fillRef idx="0">
            <a:schemeClr val="accent1"/>
          </a:fillRef>
          <a:effectRef idx="1">
            <a:schemeClr val="accent1"/>
          </a:effectRef>
          <a:fontRef idx="minor">
            <a:schemeClr val="tx1"/>
          </a:fontRef>
        </p:style>
      </p:cxnSp>
      <p:sp>
        <p:nvSpPr>
          <p:cNvPr id="15" name="Rounded Rectangle 13">
            <a:extLst>
              <a:ext uri="{FF2B5EF4-FFF2-40B4-BE49-F238E27FC236}">
                <a16:creationId xmlns:a16="http://schemas.microsoft.com/office/drawing/2014/main" id="{23C990B2-5713-C055-9C31-CAA0B3491C91}"/>
              </a:ext>
            </a:extLst>
          </p:cNvPr>
          <p:cNvSpPr/>
          <p:nvPr/>
        </p:nvSpPr>
        <p:spPr>
          <a:xfrm>
            <a:off x="2987040" y="3406140"/>
            <a:ext cx="2377440" cy="914400"/>
          </a:xfrm>
          <a:prstGeom prst="roundRect">
            <a:avLst/>
          </a:prstGeom>
          <a:solidFill>
            <a:srgbClr val="EBF3FC"/>
          </a:solidFill>
          <a:ln>
            <a:solidFill>
              <a:srgbClr val="31825F"/>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400" b="1">
                <a:solidFill>
                  <a:srgbClr val="23282D"/>
                </a:solidFill>
                <a:latin typeface="Arial"/>
              </a:defRPr>
            </a:pPr>
            <a:r>
              <a:t>New learning activity</a:t>
            </a:r>
          </a:p>
        </p:txBody>
      </p:sp>
      <p:sp>
        <p:nvSpPr>
          <p:cNvPr id="16" name="Rounded Rectangle 14">
            <a:extLst>
              <a:ext uri="{FF2B5EF4-FFF2-40B4-BE49-F238E27FC236}">
                <a16:creationId xmlns:a16="http://schemas.microsoft.com/office/drawing/2014/main" id="{1D76A00C-5089-4169-1A20-0A315F071358}"/>
              </a:ext>
            </a:extLst>
          </p:cNvPr>
          <p:cNvSpPr/>
          <p:nvPr/>
        </p:nvSpPr>
        <p:spPr>
          <a:xfrm>
            <a:off x="6461760" y="3406140"/>
            <a:ext cx="2377440" cy="914400"/>
          </a:xfrm>
          <a:prstGeom prst="roundRect">
            <a:avLst/>
          </a:prstGeom>
          <a:solidFill>
            <a:srgbClr val="EBF3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400" b="1">
                <a:solidFill>
                  <a:srgbClr val="23282D"/>
                </a:solidFill>
                <a:latin typeface="Arial"/>
              </a:defRPr>
            </a:pPr>
            <a:r>
              <a:t>Re-assessment</a:t>
            </a:r>
          </a:p>
        </p:txBody>
      </p:sp>
      <p:cxnSp>
        <p:nvCxnSpPr>
          <p:cNvPr id="17" name="Connector 15">
            <a:extLst>
              <a:ext uri="{FF2B5EF4-FFF2-40B4-BE49-F238E27FC236}">
                <a16:creationId xmlns:a16="http://schemas.microsoft.com/office/drawing/2014/main" id="{BF45A26C-C664-5942-5C59-F73B0E4A55D8}"/>
              </a:ext>
            </a:extLst>
          </p:cNvPr>
          <p:cNvCxnSpPr/>
          <p:nvPr/>
        </p:nvCxnSpPr>
        <p:spPr>
          <a:xfrm>
            <a:off x="4175760" y="2674620"/>
            <a:ext cx="0" cy="731520"/>
          </a:xfrm>
          <a:prstGeom prst="line">
            <a:avLst/>
          </a:prstGeom>
          <a:ln w="31750">
            <a:solidFill>
              <a:srgbClr val="2D69B4"/>
            </a:solidFill>
          </a:ln>
        </p:spPr>
        <p:style>
          <a:lnRef idx="2">
            <a:schemeClr val="accent1"/>
          </a:lnRef>
          <a:fillRef idx="0">
            <a:schemeClr val="accent1"/>
          </a:fillRef>
          <a:effectRef idx="1">
            <a:schemeClr val="accent1"/>
          </a:effectRef>
          <a:fontRef idx="minor">
            <a:schemeClr val="tx1"/>
          </a:fontRef>
        </p:style>
      </p:cxnSp>
      <p:cxnSp>
        <p:nvCxnSpPr>
          <p:cNvPr id="18" name="Connector 16">
            <a:extLst>
              <a:ext uri="{FF2B5EF4-FFF2-40B4-BE49-F238E27FC236}">
                <a16:creationId xmlns:a16="http://schemas.microsoft.com/office/drawing/2014/main" id="{55864A9C-488F-860F-81C4-D2B39851E74A}"/>
              </a:ext>
            </a:extLst>
          </p:cNvPr>
          <p:cNvCxnSpPr/>
          <p:nvPr/>
        </p:nvCxnSpPr>
        <p:spPr>
          <a:xfrm flipV="1">
            <a:off x="7650480" y="2674620"/>
            <a:ext cx="0" cy="731520"/>
          </a:xfrm>
          <a:prstGeom prst="line">
            <a:avLst/>
          </a:prstGeom>
          <a:ln w="31750">
            <a:solidFill>
              <a:srgbClr val="2D69B4"/>
            </a:solidFill>
          </a:ln>
        </p:spPr>
        <p:style>
          <a:lnRef idx="2">
            <a:schemeClr val="accent1"/>
          </a:lnRef>
          <a:fillRef idx="0">
            <a:schemeClr val="accent1"/>
          </a:fillRef>
          <a:effectRef idx="1">
            <a:schemeClr val="accent1"/>
          </a:effectRef>
          <a:fontRef idx="minor">
            <a:schemeClr val="tx1"/>
          </a:fontRef>
        </p:style>
      </p:cxnSp>
      <p:sp>
        <p:nvSpPr>
          <p:cNvPr id="19" name="TextBox 17">
            <a:extLst>
              <a:ext uri="{FF2B5EF4-FFF2-40B4-BE49-F238E27FC236}">
                <a16:creationId xmlns:a16="http://schemas.microsoft.com/office/drawing/2014/main" id="{0A4B95C0-BD85-71ED-85EE-29DD53926B9D}"/>
              </a:ext>
            </a:extLst>
          </p:cNvPr>
          <p:cNvSpPr txBox="1"/>
          <p:nvPr/>
        </p:nvSpPr>
        <p:spPr>
          <a:xfrm>
            <a:off x="883920" y="4640580"/>
            <a:ext cx="10241280" cy="640080"/>
          </a:xfrm>
          <a:prstGeom prst="rect">
            <a:avLst/>
          </a:prstGeom>
          <a:noFill/>
        </p:spPr>
        <p:txBody>
          <a:bodyPr wrap="non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sz="1800" b="1">
                <a:solidFill>
                  <a:srgbClr val="142D4B"/>
                </a:solidFill>
                <a:latin typeface="Arial"/>
              </a:defRPr>
            </a:pPr>
            <a:r>
              <a:t>Feedback loop: every new assessment updates the student's mastery profile.</a:t>
            </a: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a:latin typeface="Arial"/>
              </a:rPr>
              <a:t>Architecture Blueprint</a:t>
            </a:r>
            <a:endParaRPr lang="en-US" sz="2400"/>
          </a:p>
        </p:txBody>
      </p:sp>
      <p:sp>
        <p:nvSpPr>
          <p:cNvPr id="4" name="Rounded Rectangle 2">
            <a:extLst>
              <a:ext uri="{FF2B5EF4-FFF2-40B4-BE49-F238E27FC236}">
                <a16:creationId xmlns:a16="http://schemas.microsoft.com/office/drawing/2014/main" id="{0DF0087F-012E-43F1-EBA2-2C07624B560C}"/>
              </a:ext>
            </a:extLst>
          </p:cNvPr>
          <p:cNvSpPr/>
          <p:nvPr/>
        </p:nvSpPr>
        <p:spPr>
          <a:xfrm>
            <a:off x="655320" y="1371600"/>
            <a:ext cx="10881360" cy="685800"/>
          </a:xfrm>
          <a:prstGeom prst="roundRect">
            <a:avLst/>
          </a:prstGeom>
          <a:solidFill>
            <a:srgbClr val="EBF3FC"/>
          </a:solidFill>
          <a:ln>
            <a:solidFill>
              <a:srgbClr val="2D69B4"/>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23282D"/>
                </a:solidFill>
                <a:latin typeface="Arial"/>
              </a:defRPr>
            </a:pPr>
            <a:r>
              <a:t>STUDENT / TEACHER INTERFACE  •  Streamlit</a:t>
            </a:r>
          </a:p>
        </p:txBody>
      </p:sp>
      <p:sp>
        <p:nvSpPr>
          <p:cNvPr id="5" name="Rounded Rectangle 3">
            <a:extLst>
              <a:ext uri="{FF2B5EF4-FFF2-40B4-BE49-F238E27FC236}">
                <a16:creationId xmlns:a16="http://schemas.microsoft.com/office/drawing/2014/main" id="{B6929190-276B-F2D1-D31C-43AA807EF456}"/>
              </a:ext>
            </a:extLst>
          </p:cNvPr>
          <p:cNvSpPr/>
          <p:nvPr/>
        </p:nvSpPr>
        <p:spPr>
          <a:xfrm>
            <a:off x="655320" y="2377440"/>
            <a:ext cx="10881360" cy="777240"/>
          </a:xfrm>
          <a:prstGeom prst="roundRect">
            <a:avLst/>
          </a:prstGeom>
          <a:solidFill>
            <a:srgbClr val="EBF3FC"/>
          </a:solidFill>
          <a:ln>
            <a:solidFill>
              <a:srgbClr val="31825F"/>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700" b="1">
                <a:solidFill>
                  <a:srgbClr val="23282D"/>
                </a:solidFill>
                <a:latin typeface="Arial"/>
              </a:defRPr>
            </a:pPr>
            <a:r>
              <a:t>PERSONALIZED LEARNING AGENT  •  Observe → Analyze → Decide → Recommend</a:t>
            </a:r>
          </a:p>
        </p:txBody>
      </p:sp>
      <p:sp>
        <p:nvSpPr>
          <p:cNvPr id="6" name="Rounded Rectangle 4">
            <a:extLst>
              <a:ext uri="{FF2B5EF4-FFF2-40B4-BE49-F238E27FC236}">
                <a16:creationId xmlns:a16="http://schemas.microsoft.com/office/drawing/2014/main" id="{7FE56B13-2257-921F-A743-077E275126DF}"/>
              </a:ext>
            </a:extLst>
          </p:cNvPr>
          <p:cNvSpPr/>
          <p:nvPr/>
        </p:nvSpPr>
        <p:spPr>
          <a:xfrm>
            <a:off x="655320" y="3566160"/>
            <a:ext cx="2331720" cy="822960"/>
          </a:xfrm>
          <a:prstGeom prst="roundRect">
            <a:avLst/>
          </a:prstGeom>
          <a:solidFill>
            <a:srgbClr val="FFFFFF"/>
          </a:solidFill>
          <a:ln>
            <a:solidFill>
              <a:srgbClr val="2D69B4"/>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300" b="1">
                <a:solidFill>
                  <a:srgbClr val="23282D"/>
                </a:solidFill>
                <a:latin typeface="Arial"/>
              </a:defRPr>
            </a:pPr>
            <a:r>
              <a:t>Student Profile</a:t>
            </a:r>
          </a:p>
        </p:txBody>
      </p:sp>
      <p:sp>
        <p:nvSpPr>
          <p:cNvPr id="7" name="Rounded Rectangle 5">
            <a:extLst>
              <a:ext uri="{FF2B5EF4-FFF2-40B4-BE49-F238E27FC236}">
                <a16:creationId xmlns:a16="http://schemas.microsoft.com/office/drawing/2014/main" id="{421E73F3-EE90-0E5E-7329-17D78D56EF2A}"/>
              </a:ext>
            </a:extLst>
          </p:cNvPr>
          <p:cNvSpPr/>
          <p:nvPr/>
        </p:nvSpPr>
        <p:spPr>
          <a:xfrm>
            <a:off x="3398520" y="3566160"/>
            <a:ext cx="2331720" cy="822960"/>
          </a:xfrm>
          <a:prstGeom prst="roundRect">
            <a:avLst/>
          </a:prstGeom>
          <a:solidFill>
            <a:srgbClr val="FFFFFF"/>
          </a:solidFill>
          <a:ln>
            <a:solidFill>
              <a:srgbClr val="2D69B4"/>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300" b="1">
                <a:solidFill>
                  <a:srgbClr val="23282D"/>
                </a:solidFill>
                <a:latin typeface="Arial"/>
              </a:defRPr>
            </a:pPr>
            <a:r>
              <a:t>Assessments</a:t>
            </a:r>
          </a:p>
        </p:txBody>
      </p:sp>
      <p:sp>
        <p:nvSpPr>
          <p:cNvPr id="8" name="Rounded Rectangle 6">
            <a:extLst>
              <a:ext uri="{FF2B5EF4-FFF2-40B4-BE49-F238E27FC236}">
                <a16:creationId xmlns:a16="http://schemas.microsoft.com/office/drawing/2014/main" id="{EAB29CBD-D27C-C04C-A1F7-6663120B886C}"/>
              </a:ext>
            </a:extLst>
          </p:cNvPr>
          <p:cNvSpPr/>
          <p:nvPr/>
        </p:nvSpPr>
        <p:spPr>
          <a:xfrm>
            <a:off x="6141720" y="3566160"/>
            <a:ext cx="2331720" cy="822960"/>
          </a:xfrm>
          <a:prstGeom prst="roundRect">
            <a:avLst/>
          </a:prstGeom>
          <a:solidFill>
            <a:srgbClr val="FFFFFF"/>
          </a:solidFill>
          <a:ln>
            <a:solidFill>
              <a:srgbClr val="2D69B4"/>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300" b="1">
                <a:solidFill>
                  <a:srgbClr val="23282D"/>
                </a:solidFill>
                <a:latin typeface="Arial"/>
              </a:defRPr>
            </a:pPr>
            <a:r>
              <a:t>Mastery Service</a:t>
            </a:r>
          </a:p>
        </p:txBody>
      </p:sp>
      <p:sp>
        <p:nvSpPr>
          <p:cNvPr id="9" name="Rounded Rectangle 7">
            <a:extLst>
              <a:ext uri="{FF2B5EF4-FFF2-40B4-BE49-F238E27FC236}">
                <a16:creationId xmlns:a16="http://schemas.microsoft.com/office/drawing/2014/main" id="{B01D0FE7-6D7D-3226-4E80-3844AB05E0EA}"/>
              </a:ext>
            </a:extLst>
          </p:cNvPr>
          <p:cNvSpPr/>
          <p:nvPr/>
        </p:nvSpPr>
        <p:spPr>
          <a:xfrm>
            <a:off x="8884920" y="3566160"/>
            <a:ext cx="2331720" cy="822960"/>
          </a:xfrm>
          <a:prstGeom prst="roundRect">
            <a:avLst/>
          </a:prstGeom>
          <a:solidFill>
            <a:srgbClr val="FFFFFF"/>
          </a:solidFill>
          <a:ln>
            <a:solidFill>
              <a:srgbClr val="2D69B4"/>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300" b="1">
                <a:solidFill>
                  <a:srgbClr val="23282D"/>
                </a:solidFill>
                <a:latin typeface="Arial"/>
              </a:defRPr>
            </a:pPr>
            <a:r>
              <a:t>Recommendation Service</a:t>
            </a:r>
          </a:p>
        </p:txBody>
      </p:sp>
      <p:sp>
        <p:nvSpPr>
          <p:cNvPr id="10" name="Rounded Rectangle 8">
            <a:extLst>
              <a:ext uri="{FF2B5EF4-FFF2-40B4-BE49-F238E27FC236}">
                <a16:creationId xmlns:a16="http://schemas.microsoft.com/office/drawing/2014/main" id="{955EA928-8555-51F0-68F6-3ADF0B284CBB}"/>
              </a:ext>
            </a:extLst>
          </p:cNvPr>
          <p:cNvSpPr/>
          <p:nvPr/>
        </p:nvSpPr>
        <p:spPr>
          <a:xfrm>
            <a:off x="655320" y="4754880"/>
            <a:ext cx="5257800" cy="731520"/>
          </a:xfrm>
          <a:prstGeom prst="roundRect">
            <a:avLst/>
          </a:prstGeom>
          <a:solidFill>
            <a:srgbClr val="EBF3FC"/>
          </a:solidFill>
          <a:ln>
            <a:solidFill>
              <a:srgbClr val="DC822D"/>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400" b="1">
                <a:solidFill>
                  <a:srgbClr val="23282D"/>
                </a:solidFill>
                <a:latin typeface="Arial"/>
              </a:defRPr>
            </a:pPr>
            <a:r>
              <a:t>SQLite + SQLAlchemy  •  Students • Topics • Assessments • Resources</a:t>
            </a:r>
          </a:p>
        </p:txBody>
      </p:sp>
      <p:sp>
        <p:nvSpPr>
          <p:cNvPr id="11" name="Rounded Rectangle 9">
            <a:extLst>
              <a:ext uri="{FF2B5EF4-FFF2-40B4-BE49-F238E27FC236}">
                <a16:creationId xmlns:a16="http://schemas.microsoft.com/office/drawing/2014/main" id="{7F11ADE6-4F7B-D4DB-5C43-2A73F64F8E7D}"/>
              </a:ext>
            </a:extLst>
          </p:cNvPr>
          <p:cNvSpPr/>
          <p:nvPr/>
        </p:nvSpPr>
        <p:spPr>
          <a:xfrm>
            <a:off x="6096000" y="4754880"/>
            <a:ext cx="5440680" cy="731520"/>
          </a:xfrm>
          <a:prstGeom prst="roundRect">
            <a:avLst/>
          </a:prstGeom>
          <a:solidFill>
            <a:srgbClr val="EBF3FC"/>
          </a:solidFill>
          <a:ln>
            <a:solidFill>
              <a:srgbClr val="31825F"/>
            </a:solidFill>
          </a:ln>
        </p:spPr>
        <p:style>
          <a:lnRef idx="1">
            <a:schemeClr val="accent1"/>
          </a:lnRef>
          <a:fillRef idx="3">
            <a:schemeClr val="accent1"/>
          </a:fillRef>
          <a:effectRef idx="2">
            <a:schemeClr val="accent1"/>
          </a:effectRef>
          <a:fontRef idx="minor">
            <a:schemeClr val="lt1"/>
          </a:fontRef>
        </p:style>
        <p:txBody>
          <a:bodyPr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400" b="1">
                <a:solidFill>
                  <a:srgbClr val="23282D"/>
                </a:solidFill>
                <a:latin typeface="Arial"/>
              </a:defRPr>
            </a:pPr>
            <a:r>
              <a:t>Future: IBM Granite + LangFlow + RAG + Vector Database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a:latin typeface="Arial"/>
              </a:rPr>
              <a:t>Role of Agentic AI in the Solution</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08762"/>
          </a:xfrm>
          <a:prstGeom prst="rect">
            <a:avLst/>
          </a:prstGeom>
          <a:noFill/>
        </p:spPr>
        <p:txBody>
          <a:bodyPr wrap="square" rtlCol="0">
            <a:spAutoFit/>
          </a:bodyPr>
          <a:lstStyle/>
          <a:p>
            <a:pPr>
              <a:spcAft>
                <a:spcPts val="1000"/>
              </a:spcAft>
              <a:defRPr sz="1800">
                <a:solidFill>
                  <a:srgbClr val="23282D"/>
                </a:solidFill>
                <a:latin typeface="Arial"/>
              </a:defRPr>
            </a:pPr>
            <a:r>
              <a:rPr lang="en-US" dirty="0"/>
              <a:t>Observe: collect student profile, assessment history and topic performance.</a:t>
            </a:r>
          </a:p>
          <a:p>
            <a:pPr>
              <a:spcAft>
                <a:spcPts val="1000"/>
              </a:spcAft>
              <a:defRPr sz="1800">
                <a:solidFill>
                  <a:srgbClr val="23282D"/>
                </a:solidFill>
                <a:latin typeface="Arial"/>
              </a:defRPr>
            </a:pPr>
            <a:r>
              <a:rPr lang="en-US" dirty="0"/>
              <a:t>Reason: estimate mastery and identify the most important learning gap.</a:t>
            </a:r>
          </a:p>
          <a:p>
            <a:pPr>
              <a:spcAft>
                <a:spcPts val="1000"/>
              </a:spcAft>
              <a:defRPr sz="1800">
                <a:solidFill>
                  <a:srgbClr val="23282D"/>
                </a:solidFill>
                <a:latin typeface="Arial"/>
              </a:defRPr>
            </a:pPr>
            <a:r>
              <a:rPr lang="en-US" dirty="0"/>
              <a:t>Plan: select an appropriate learning action and difficulty.</a:t>
            </a:r>
          </a:p>
          <a:p>
            <a:pPr>
              <a:spcAft>
                <a:spcPts val="1000"/>
              </a:spcAft>
              <a:defRPr sz="1800">
                <a:solidFill>
                  <a:srgbClr val="23282D"/>
                </a:solidFill>
                <a:latin typeface="Arial"/>
              </a:defRPr>
            </a:pPr>
            <a:r>
              <a:rPr lang="en-US" dirty="0"/>
              <a:t>Act: recommend a specific learning resource or teacher-approved activity.</a:t>
            </a:r>
          </a:p>
          <a:p>
            <a:pPr>
              <a:spcAft>
                <a:spcPts val="1000"/>
              </a:spcAft>
              <a:defRPr sz="1800">
                <a:solidFill>
                  <a:srgbClr val="23282D"/>
                </a:solidFill>
                <a:latin typeface="Arial"/>
              </a:defRPr>
            </a:pPr>
            <a:r>
              <a:rPr lang="en-US" dirty="0"/>
              <a:t>Adapt: use the next assessment to update the recommendation.</a:t>
            </a:r>
          </a:p>
          <a:p>
            <a:pPr>
              <a:spcAft>
                <a:spcPts val="1000"/>
              </a:spcAft>
              <a:defRPr sz="1800">
                <a:solidFill>
                  <a:srgbClr val="23282D"/>
                </a:solidFill>
                <a:latin typeface="Arial"/>
              </a:defRPr>
            </a:pPr>
            <a:r>
              <a:rPr lang="en-US" dirty="0"/>
              <a:t>Explain: provide a reason that a teacher can understand and review.</a:t>
            </a:r>
          </a:p>
          <a:p>
            <a:pPr>
              <a:spcAft>
                <a:spcPts val="1000"/>
              </a:spcAft>
              <a:defRPr sz="1800">
                <a:solidFill>
                  <a:srgbClr val="23282D"/>
                </a:solidFill>
                <a:latin typeface="Arial"/>
              </a:defRPr>
            </a:pPr>
            <a:r>
              <a:rPr lang="en-US" dirty="0"/>
              <a:t>Human oversight: teachers remain responsible for final educational decisions.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a:latin typeface="Arial"/>
              </a:rPr>
              <a:t>Agentic AI Prompt &amp; Execution</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982750" y="2150848"/>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982750" y="3186096"/>
            <a:ext cx="7468553" cy="766048"/>
          </a:xfrm>
          <a:prstGeom prst="rect">
            <a:avLst/>
          </a:prstGeom>
          <a:noFill/>
          <a:ln>
            <a:noFill/>
          </a:ln>
        </p:spPr>
        <p:txBody>
          <a:bodyPr spcFirstLastPara="1" wrap="square" lIns="0" tIns="0" rIns="0" bIns="0" anchor="t" anchorCtr="0">
            <a:noAutofit/>
          </a:bodyPr>
          <a:lstStyle/>
          <a:p>
            <a:pPr>
              <a:spcAft>
                <a:spcPts val="1000"/>
              </a:spcAft>
              <a:defRPr sz="1700">
                <a:solidFill>
                  <a:srgbClr val="23282D"/>
                </a:solidFill>
                <a:latin typeface="Arial"/>
              </a:defRPr>
            </a:pPr>
            <a:r>
              <a:rPr lang="en-US" sz="2000"/>
              <a:t>Keep prompts structured: student context → evidence → constraints → required output.</a:t>
            </a:r>
          </a:p>
          <a:p>
            <a:pPr>
              <a:spcAft>
                <a:spcPts val="1000"/>
              </a:spcAft>
              <a:defRPr sz="1700">
                <a:solidFill>
                  <a:srgbClr val="23282D"/>
                </a:solidFill>
                <a:latin typeface="Arial"/>
              </a:defRPr>
            </a:pPr>
            <a:r>
              <a:rPr lang="en-US" sz="2000"/>
              <a:t>Avoid sending unnecessary student history to reduce cost and improve consistency.</a:t>
            </a:r>
          </a:p>
          <a:p>
            <a:pPr>
              <a:spcAft>
                <a:spcPts val="1000"/>
              </a:spcAft>
              <a:defRPr sz="1700">
                <a:solidFill>
                  <a:srgbClr val="23282D"/>
                </a:solidFill>
                <a:latin typeface="Arial"/>
              </a:defRPr>
            </a:pPr>
            <a:r>
              <a:rPr lang="en-US" sz="2000"/>
              <a:t>For the first MVP, deterministic rules handle core recommendations; LLMs are best added for explanation/content generation.</a:t>
            </a:r>
          </a:p>
        </p:txBody>
      </p:sp>
      <p:sp>
        <p:nvSpPr>
          <p:cNvPr id="282" name="Google Shape;282;p18">
            <a:extLst>
              <a:ext uri="{FF2B5EF4-FFF2-40B4-BE49-F238E27FC236}">
                <a16:creationId xmlns:a16="http://schemas.microsoft.com/office/drawing/2014/main" id="{6A2761AF-8A54-98F2-52C2-794D9BA61C92}"/>
              </a:ext>
            </a:extLst>
          </p:cNvPr>
          <p:cNvSpPr/>
          <p:nvPr/>
        </p:nvSpPr>
        <p:spPr>
          <a:xfrm>
            <a:off x="982750" y="4221345"/>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a:p>
        </p:txBody>
      </p:sp>
      <p:sp>
        <p:nvSpPr>
          <p:cNvPr id="2" name="Rounded Rectangle 2">
            <a:extLst>
              <a:ext uri="{FF2B5EF4-FFF2-40B4-BE49-F238E27FC236}">
                <a16:creationId xmlns:a16="http://schemas.microsoft.com/office/drawing/2014/main" id="{B844426B-0600-2ADF-930A-030B5DE3F024}"/>
              </a:ext>
            </a:extLst>
          </p:cNvPr>
          <p:cNvSpPr/>
          <p:nvPr/>
        </p:nvSpPr>
        <p:spPr>
          <a:xfrm>
            <a:off x="602226" y="1510972"/>
            <a:ext cx="5120640" cy="1417320"/>
          </a:xfrm>
          <a:prstGeom prst="roundRect">
            <a:avLst/>
          </a:prstGeom>
          <a:solidFill>
            <a:srgbClr val="EBF3FC"/>
          </a:solidFill>
          <a:ln>
            <a:solidFill>
              <a:srgbClr val="DC822D"/>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DC822D"/>
                </a:solidFill>
                <a:latin typeface="Arial"/>
              </a:defRPr>
            </a:pPr>
            <a:r>
              <a:rPr dirty="0"/>
              <a:t>Before Prompt</a:t>
            </a:r>
          </a:p>
          <a:p>
            <a:pPr>
              <a:spcBef>
                <a:spcPts val="600"/>
              </a:spcBef>
              <a:defRPr sz="1400">
                <a:solidFill>
                  <a:srgbClr val="23282D"/>
                </a:solidFill>
                <a:latin typeface="Arial"/>
              </a:defRPr>
            </a:pPr>
            <a:r>
              <a:rPr dirty="0"/>
              <a:t>Student: Grade 8</a:t>
            </a:r>
            <a:br>
              <a:rPr dirty="0"/>
            </a:br>
            <a:r>
              <a:rPr dirty="0"/>
              <a:t>Topic: Fractions</a:t>
            </a:r>
            <a:br>
              <a:rPr dirty="0"/>
            </a:br>
            <a:r>
              <a:rPr dirty="0"/>
              <a:t>Recent score: 35%</a:t>
            </a:r>
            <a:br>
              <a:rPr dirty="0"/>
            </a:br>
            <a:r>
              <a:rPr dirty="0"/>
              <a:t>History: repeated mistakes</a:t>
            </a:r>
          </a:p>
        </p:txBody>
      </p:sp>
      <p:sp>
        <p:nvSpPr>
          <p:cNvPr id="3" name="Rounded Rectangle 3">
            <a:extLst>
              <a:ext uri="{FF2B5EF4-FFF2-40B4-BE49-F238E27FC236}">
                <a16:creationId xmlns:a16="http://schemas.microsoft.com/office/drawing/2014/main" id="{CCF794E6-4ACC-8A50-0455-529FB5D3249E}"/>
              </a:ext>
            </a:extLst>
          </p:cNvPr>
          <p:cNvSpPr/>
          <p:nvPr/>
        </p:nvSpPr>
        <p:spPr>
          <a:xfrm>
            <a:off x="5997186" y="1510972"/>
            <a:ext cx="5120640" cy="1417320"/>
          </a:xfrm>
          <a:prstGeom prst="roundRect">
            <a:avLst/>
          </a:prstGeom>
          <a:solidFill>
            <a:srgbClr val="EBF3FC"/>
          </a:solidFill>
          <a:ln>
            <a:solidFill>
              <a:srgbClr val="31825F"/>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31825F"/>
                </a:solidFill>
                <a:latin typeface="Arial"/>
              </a:defRPr>
            </a:pPr>
            <a:r>
              <a:t>After Prompt / Agent Output</a:t>
            </a:r>
          </a:p>
          <a:p>
            <a:pPr>
              <a:spcBef>
                <a:spcPts val="600"/>
              </a:spcBef>
              <a:defRPr sz="1400">
                <a:solidFill>
                  <a:srgbClr val="23282D"/>
                </a:solidFill>
                <a:latin typeface="Arial"/>
              </a:defRPr>
            </a:pPr>
            <a:r>
              <a:t>Action: Foundation Lesson</a:t>
            </a:r>
            <a:br/>
            <a:r>
              <a:t>Difficulty: Easy</a:t>
            </a:r>
            <a:br/>
            <a:r>
              <a:t>Reason: mastery below 40%</a:t>
            </a:r>
            <a:br/>
            <a:r>
              <a:t>Next step: short re-assessment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5" name="TextBox 4">
            <a:extLst>
              <a:ext uri="{FF2B5EF4-FFF2-40B4-BE49-F238E27FC236}">
                <a16:creationId xmlns:a16="http://schemas.microsoft.com/office/drawing/2014/main" id="{467A39DE-1501-DCC0-A770-611B2A9056B0}"/>
              </a:ext>
            </a:extLst>
          </p:cNvPr>
          <p:cNvSpPr txBox="1"/>
          <p:nvPr/>
        </p:nvSpPr>
        <p:spPr>
          <a:xfrm>
            <a:off x="777240" y="1199230"/>
            <a:ext cx="6096000" cy="4739759"/>
          </a:xfrm>
          <a:prstGeom prst="rect">
            <a:avLst/>
          </a:prstGeom>
          <a:noFill/>
        </p:spPr>
        <p:txBody>
          <a:bodyPr wrap="square">
            <a:spAutoFit/>
          </a:bodyPr>
          <a:lstStyle/>
          <a:p>
            <a:pPr>
              <a:spcAft>
                <a:spcPts val="1000"/>
              </a:spcAft>
              <a:defRPr sz="1800">
                <a:solidFill>
                  <a:srgbClr val="23282D"/>
                </a:solidFill>
                <a:latin typeface="Arial"/>
              </a:defRPr>
            </a:pPr>
            <a:r>
              <a:rPr lang="en-US" sz="1800" dirty="0"/>
              <a:t>Student-level personalization instead of one-size-fits-all recommendations.</a:t>
            </a:r>
          </a:p>
          <a:p>
            <a:pPr>
              <a:spcAft>
                <a:spcPts val="1000"/>
              </a:spcAft>
              <a:defRPr sz="1800">
                <a:solidFill>
                  <a:srgbClr val="23282D"/>
                </a:solidFill>
                <a:latin typeface="Arial"/>
              </a:defRPr>
            </a:pPr>
            <a:r>
              <a:rPr lang="en-US" sz="1800" dirty="0"/>
              <a:t>Explainable recommendations: every action is tied to observed performance.</a:t>
            </a:r>
          </a:p>
          <a:p>
            <a:pPr>
              <a:spcAft>
                <a:spcPts val="1000"/>
              </a:spcAft>
              <a:defRPr sz="1800">
                <a:solidFill>
                  <a:srgbClr val="23282D"/>
                </a:solidFill>
                <a:latin typeface="Arial"/>
              </a:defRPr>
            </a:pPr>
            <a:r>
              <a:rPr lang="en-US" sz="1800" dirty="0"/>
              <a:t>Closed feedback loop: assessment → recommendation → activity → re-assessment.</a:t>
            </a:r>
          </a:p>
          <a:p>
            <a:pPr>
              <a:spcAft>
                <a:spcPts val="1000"/>
              </a:spcAft>
              <a:defRPr sz="1800">
                <a:solidFill>
                  <a:srgbClr val="23282D"/>
                </a:solidFill>
                <a:latin typeface="Arial"/>
              </a:defRPr>
            </a:pPr>
            <a:r>
              <a:rPr lang="en-US" sz="1800" dirty="0"/>
              <a:t>Teacher-in-the-loop design for safer and more practical school adoption.</a:t>
            </a:r>
          </a:p>
          <a:p>
            <a:pPr>
              <a:spcAft>
                <a:spcPts val="1000"/>
              </a:spcAft>
              <a:defRPr sz="1800">
                <a:solidFill>
                  <a:srgbClr val="23282D"/>
                </a:solidFill>
                <a:latin typeface="Arial"/>
              </a:defRPr>
            </a:pPr>
            <a:r>
              <a:rPr lang="en-US" sz="1800" dirty="0"/>
              <a:t>Gujarat-focused opportunity: future Gujarati + English learning support.</a:t>
            </a:r>
          </a:p>
          <a:p>
            <a:pPr>
              <a:spcAft>
                <a:spcPts val="1000"/>
              </a:spcAft>
              <a:defRPr sz="1800">
                <a:solidFill>
                  <a:srgbClr val="23282D"/>
                </a:solidFill>
                <a:latin typeface="Arial"/>
              </a:defRPr>
            </a:pPr>
            <a:r>
              <a:rPr lang="en-US" sz="1800" dirty="0"/>
              <a:t>Rural-school friendly architecture: lightweight first deployment with a path to cloud/LLM/RAG.</a:t>
            </a:r>
          </a:p>
          <a:p>
            <a:pPr>
              <a:spcAft>
                <a:spcPts val="1000"/>
              </a:spcAft>
              <a:defRPr sz="1800">
                <a:solidFill>
                  <a:srgbClr val="23282D"/>
                </a:solidFill>
                <a:latin typeface="Arial"/>
              </a:defRPr>
            </a:pPr>
            <a:r>
              <a:rPr lang="en-US" sz="1800" dirty="0"/>
              <a:t>Modular agent architecture can later support assessment, lesson planning and teacher-assistant agents.</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669AA0-5819-8C27-8B1C-E1F10459F602}"/>
              </a:ext>
            </a:extLst>
          </p:cNvPr>
          <p:cNvSpPr txBox="1"/>
          <p:nvPr/>
        </p:nvSpPr>
        <p:spPr>
          <a:xfrm>
            <a:off x="495300" y="463837"/>
            <a:ext cx="10972800" cy="685800"/>
          </a:xfrm>
          <a:prstGeom prst="rect">
            <a:avLst/>
          </a:prstGeom>
          <a:noFill/>
        </p:spPr>
        <p:txBody>
          <a:bodyPr wrap="non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sz="2800" b="1">
                <a:solidFill>
                  <a:srgbClr val="142D4B"/>
                </a:solidFill>
                <a:latin typeface="Arial"/>
              </a:defRPr>
            </a:pPr>
            <a:r>
              <a:rPr dirty="0"/>
              <a:t>Implementation &amp; Demo</a:t>
            </a:r>
          </a:p>
        </p:txBody>
      </p:sp>
      <p:sp>
        <p:nvSpPr>
          <p:cNvPr id="3" name="Rounded Rectangle 2">
            <a:extLst>
              <a:ext uri="{FF2B5EF4-FFF2-40B4-BE49-F238E27FC236}">
                <a16:creationId xmlns:a16="http://schemas.microsoft.com/office/drawing/2014/main" id="{861D1E3D-7631-CD20-E92C-91ED9FF27304}"/>
              </a:ext>
            </a:extLst>
          </p:cNvPr>
          <p:cNvSpPr/>
          <p:nvPr/>
        </p:nvSpPr>
        <p:spPr>
          <a:xfrm>
            <a:off x="495300" y="1761695"/>
            <a:ext cx="3429000" cy="1417320"/>
          </a:xfrm>
          <a:prstGeom prst="roundRect">
            <a:avLst/>
          </a:prstGeom>
          <a:solidFill>
            <a:srgbClr val="EBF3FC"/>
          </a:solidFill>
          <a:ln>
            <a:solidFill>
              <a:srgbClr val="2D69B4"/>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2D69B4"/>
                </a:solidFill>
                <a:latin typeface="Arial"/>
              </a:defRPr>
            </a:pPr>
            <a:r>
              <a:t>Student Dashboard</a:t>
            </a:r>
          </a:p>
          <a:p>
            <a:pPr>
              <a:spcBef>
                <a:spcPts val="600"/>
              </a:spcBef>
              <a:defRPr sz="1400">
                <a:solidFill>
                  <a:srgbClr val="23282D"/>
                </a:solidFill>
                <a:latin typeface="Arial"/>
              </a:defRPr>
            </a:pPr>
            <a:r>
              <a:t>View mastery by topic and receive personalized recommendations.</a:t>
            </a:r>
          </a:p>
        </p:txBody>
      </p:sp>
      <p:sp>
        <p:nvSpPr>
          <p:cNvPr id="4" name="Rounded Rectangle 3">
            <a:extLst>
              <a:ext uri="{FF2B5EF4-FFF2-40B4-BE49-F238E27FC236}">
                <a16:creationId xmlns:a16="http://schemas.microsoft.com/office/drawing/2014/main" id="{0296C26C-67C3-5E88-0EDC-854603CAEAF3}"/>
              </a:ext>
            </a:extLst>
          </p:cNvPr>
          <p:cNvSpPr/>
          <p:nvPr/>
        </p:nvSpPr>
        <p:spPr>
          <a:xfrm>
            <a:off x="4152900" y="1761695"/>
            <a:ext cx="3429000" cy="1417320"/>
          </a:xfrm>
          <a:prstGeom prst="roundRect">
            <a:avLst/>
          </a:prstGeom>
          <a:solidFill>
            <a:srgbClr val="EBF3FC"/>
          </a:solidFill>
          <a:ln>
            <a:solidFill>
              <a:srgbClr val="31825F"/>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31825F"/>
                </a:solidFill>
                <a:latin typeface="Arial"/>
              </a:defRPr>
            </a:pPr>
            <a:r>
              <a:t>Teacher Dashboard</a:t>
            </a:r>
          </a:p>
          <a:p>
            <a:pPr>
              <a:spcBef>
                <a:spcPts val="600"/>
              </a:spcBef>
              <a:defRPr sz="1400">
                <a:solidFill>
                  <a:srgbClr val="23282D"/>
                </a:solidFill>
                <a:latin typeface="Arial"/>
              </a:defRPr>
            </a:pPr>
            <a:r>
              <a:t>See students needing support and inspect topic-wise performance.</a:t>
            </a:r>
          </a:p>
        </p:txBody>
      </p:sp>
      <p:sp>
        <p:nvSpPr>
          <p:cNvPr id="5" name="Rounded Rectangle 4">
            <a:extLst>
              <a:ext uri="{FF2B5EF4-FFF2-40B4-BE49-F238E27FC236}">
                <a16:creationId xmlns:a16="http://schemas.microsoft.com/office/drawing/2014/main" id="{A2469A99-8DB0-711E-FF87-94B6D4A740B0}"/>
              </a:ext>
            </a:extLst>
          </p:cNvPr>
          <p:cNvSpPr/>
          <p:nvPr/>
        </p:nvSpPr>
        <p:spPr>
          <a:xfrm>
            <a:off x="7810500" y="1761695"/>
            <a:ext cx="3429000" cy="1417320"/>
          </a:xfrm>
          <a:prstGeom prst="roundRect">
            <a:avLst/>
          </a:prstGeom>
          <a:solidFill>
            <a:srgbClr val="EBF3FC"/>
          </a:solidFill>
          <a:ln>
            <a:solidFill>
              <a:srgbClr val="DC822D"/>
            </a:solidFill>
          </a:ln>
        </p:spPr>
        <p:style>
          <a:lnRef idx="1">
            <a:schemeClr val="accent1"/>
          </a:lnRef>
          <a:fillRef idx="3">
            <a:schemeClr val="accent1"/>
          </a:fillRef>
          <a:effectRef idx="2">
            <a:schemeClr val="accent1"/>
          </a:effectRef>
          <a:fontRef idx="minor">
            <a:schemeClr val="lt1"/>
          </a:fontRef>
        </p:style>
        <p:txBody>
          <a:bodyPr wrap="square"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defRPr sz="1800" b="1">
                <a:solidFill>
                  <a:srgbClr val="DC822D"/>
                </a:solidFill>
                <a:latin typeface="Arial"/>
              </a:defRPr>
            </a:pPr>
            <a:r>
              <a:rPr dirty="0"/>
              <a:t>Agent API</a:t>
            </a:r>
          </a:p>
          <a:p>
            <a:pPr>
              <a:spcBef>
                <a:spcPts val="600"/>
              </a:spcBef>
              <a:defRPr sz="1400">
                <a:solidFill>
                  <a:srgbClr val="23282D"/>
                </a:solidFill>
                <a:latin typeface="Arial"/>
              </a:defRPr>
            </a:pPr>
            <a:r>
              <a:rPr dirty="0" err="1"/>
              <a:t>FastAPI</a:t>
            </a:r>
            <a:r>
              <a:rPr dirty="0"/>
              <a:t> endpoint exposes student recommendations for future integrations.</a:t>
            </a:r>
          </a:p>
        </p:txBody>
      </p:sp>
      <p:sp>
        <p:nvSpPr>
          <p:cNvPr id="7" name="TextBox 6">
            <a:extLst>
              <a:ext uri="{FF2B5EF4-FFF2-40B4-BE49-F238E27FC236}">
                <a16:creationId xmlns:a16="http://schemas.microsoft.com/office/drawing/2014/main" id="{7B3F0189-33EB-EE57-B6FE-3C72E9A75B8F}"/>
              </a:ext>
            </a:extLst>
          </p:cNvPr>
          <p:cNvSpPr txBox="1"/>
          <p:nvPr/>
        </p:nvSpPr>
        <p:spPr>
          <a:xfrm>
            <a:off x="2585884" y="3678986"/>
            <a:ext cx="6096000" cy="2287806"/>
          </a:xfrm>
          <a:prstGeom prst="rect">
            <a:avLst/>
          </a:prstGeom>
          <a:noFill/>
        </p:spPr>
        <p:txBody>
          <a:bodyPr wrap="square">
            <a:spAutoFit/>
          </a:bodyPr>
          <a:lstStyle/>
          <a:p>
            <a:pPr>
              <a:spcAft>
                <a:spcPts val="1000"/>
              </a:spcAft>
              <a:defRPr sz="1800">
                <a:solidFill>
                  <a:srgbClr val="23282D"/>
                </a:solidFill>
                <a:latin typeface="Arial"/>
              </a:defRPr>
            </a:pPr>
            <a:r>
              <a:rPr lang="en-IN" sz="1800" dirty="0"/>
              <a:t>Demo data includes Mathematics, Science and English topics.</a:t>
            </a:r>
          </a:p>
          <a:p>
            <a:pPr>
              <a:spcAft>
                <a:spcPts val="1000"/>
              </a:spcAft>
              <a:defRPr sz="1800">
                <a:solidFill>
                  <a:srgbClr val="23282D"/>
                </a:solidFill>
                <a:latin typeface="Arial"/>
              </a:defRPr>
            </a:pPr>
            <a:r>
              <a:rPr lang="en-IN" sz="1800" dirty="0"/>
              <a:t>Example decisions: &lt;40% → Foundation; 40–59% → Guided Practice; 60–79% → Independent Practice; ≥80% → Challenge.</a:t>
            </a:r>
          </a:p>
          <a:p>
            <a:pPr>
              <a:spcAft>
                <a:spcPts val="1000"/>
              </a:spcAft>
              <a:defRPr sz="1800">
                <a:solidFill>
                  <a:srgbClr val="23282D"/>
                </a:solidFill>
                <a:latin typeface="Arial"/>
              </a:defRPr>
            </a:pPr>
            <a:r>
              <a:rPr lang="en-IN" sz="1800" dirty="0"/>
              <a:t>The repository includes database models, services, agent logic, UI, API and a basic automated test.</a:t>
            </a:r>
          </a:p>
        </p:txBody>
      </p:sp>
    </p:spTree>
    <p:extLst>
      <p:ext uri="{BB962C8B-B14F-4D97-AF65-F5344CB8AC3E}">
        <p14:creationId xmlns:p14="http://schemas.microsoft.com/office/powerpoint/2010/main" val="2875001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DA338B37-5B7F-1A39-A7A7-16CC05DB5FB3}"/>
              </a:ext>
            </a:extLst>
          </p:cNvPr>
          <p:cNvSpPr txBox="1"/>
          <p:nvPr/>
        </p:nvSpPr>
        <p:spPr>
          <a:xfrm>
            <a:off x="1218724" y="1044263"/>
            <a:ext cx="6096000" cy="5550237"/>
          </a:xfrm>
          <a:prstGeom prst="rect">
            <a:avLst/>
          </a:prstGeom>
          <a:noFill/>
        </p:spPr>
        <p:txBody>
          <a:bodyPr wrap="square">
            <a:spAutoFit/>
          </a:bodyPr>
          <a:lstStyle/>
          <a:p>
            <a:pPr>
              <a:spcAft>
                <a:spcPts val="1000"/>
              </a:spcAft>
              <a:defRPr sz="1600">
                <a:solidFill>
                  <a:srgbClr val="23282D"/>
                </a:solidFill>
                <a:latin typeface="Arial"/>
              </a:defRPr>
            </a:pPr>
            <a:r>
              <a:rPr lang="en-US" sz="1600" dirty="0"/>
              <a:t>Teacher Assistant Agent — lesson plans, worksheets, activity ideas and differentiated content.</a:t>
            </a:r>
          </a:p>
          <a:p>
            <a:pPr>
              <a:spcAft>
                <a:spcPts val="1000"/>
              </a:spcAft>
              <a:defRPr sz="1600">
                <a:solidFill>
                  <a:srgbClr val="23282D"/>
                </a:solidFill>
                <a:latin typeface="Arial"/>
              </a:defRPr>
            </a:pPr>
            <a:r>
              <a:rPr lang="en-US" sz="1600" dirty="0"/>
              <a:t>Assessment Agent — generate quizzes, evaluate answers and produce feedback.</a:t>
            </a:r>
          </a:p>
          <a:p>
            <a:pPr>
              <a:spcAft>
                <a:spcPts val="1000"/>
              </a:spcAft>
              <a:defRPr sz="1600">
                <a:solidFill>
                  <a:srgbClr val="23282D"/>
                </a:solidFill>
                <a:latin typeface="Arial"/>
              </a:defRPr>
            </a:pPr>
            <a:r>
              <a:rPr lang="en-US" sz="1600" dirty="0"/>
              <a:t>Curriculum RAG — retrieve only approved Gujarat/state curriculum material.</a:t>
            </a:r>
          </a:p>
          <a:p>
            <a:pPr>
              <a:spcAft>
                <a:spcPts val="1000"/>
              </a:spcAft>
              <a:defRPr sz="1600">
                <a:solidFill>
                  <a:srgbClr val="23282D"/>
                </a:solidFill>
                <a:latin typeface="Arial"/>
              </a:defRPr>
            </a:pPr>
            <a:r>
              <a:rPr lang="en-US" sz="1600" dirty="0"/>
              <a:t>Gujarati + English support — improve accessibility for local classrooms.</a:t>
            </a:r>
          </a:p>
          <a:p>
            <a:pPr>
              <a:spcAft>
                <a:spcPts val="1000"/>
              </a:spcAft>
              <a:defRPr sz="1600">
                <a:solidFill>
                  <a:srgbClr val="23282D"/>
                </a:solidFill>
                <a:latin typeface="Arial"/>
              </a:defRPr>
            </a:pPr>
            <a:r>
              <a:rPr lang="en-US" sz="1600" dirty="0"/>
              <a:t>Student Knowledge Graph — model concepts, prerequisites and mastery relationships.</a:t>
            </a:r>
          </a:p>
          <a:p>
            <a:pPr>
              <a:spcAft>
                <a:spcPts val="1000"/>
              </a:spcAft>
              <a:defRPr sz="1600">
                <a:solidFill>
                  <a:srgbClr val="23282D"/>
                </a:solidFill>
                <a:latin typeface="Arial"/>
              </a:defRPr>
            </a:pPr>
            <a:r>
              <a:rPr lang="en-US" sz="1600" dirty="0"/>
              <a:t>Early Support Detection — identify persistent learning gaps and alert teachers.</a:t>
            </a:r>
          </a:p>
          <a:p>
            <a:pPr>
              <a:spcAft>
                <a:spcPts val="1000"/>
              </a:spcAft>
              <a:defRPr sz="1600">
                <a:solidFill>
                  <a:srgbClr val="23282D"/>
                </a:solidFill>
                <a:latin typeface="Arial"/>
              </a:defRPr>
            </a:pPr>
            <a:r>
              <a:rPr lang="en-US" sz="1600" dirty="0"/>
              <a:t>Voice interface — support students and teachers with limited typing ability.</a:t>
            </a:r>
          </a:p>
          <a:p>
            <a:pPr>
              <a:spcAft>
                <a:spcPts val="1000"/>
              </a:spcAft>
              <a:defRPr sz="1600">
                <a:solidFill>
                  <a:srgbClr val="23282D"/>
                </a:solidFill>
                <a:latin typeface="Arial"/>
              </a:defRPr>
            </a:pPr>
            <a:r>
              <a:rPr lang="en-US" sz="1600" dirty="0"/>
              <a:t>Cloud deployment + PostgreSQL — support multiple schools and larger datasets.</a:t>
            </a:r>
          </a:p>
          <a:p>
            <a:pPr>
              <a:spcAft>
                <a:spcPts val="1000"/>
              </a:spcAft>
              <a:defRPr sz="1600">
                <a:solidFill>
                  <a:srgbClr val="23282D"/>
                </a:solidFill>
                <a:latin typeface="Arial"/>
              </a:defRPr>
            </a:pPr>
            <a:r>
              <a:rPr lang="en-US" sz="1600" dirty="0"/>
              <a:t>Evaluation framework — measure recommendation accuracy, learning gains and teacher time saved.</a:t>
            </a: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a:latin typeface="Arial"/>
              </a:rPr>
              <a:t>Certificates Earned:</a:t>
            </a:r>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a:latin typeface="Arial"/>
              </a:rPr>
              <a:t>Add your Credly / IBM learning certificate here</a:t>
            </a:r>
          </a:p>
        </p:txBody>
      </p:sp>
      <p:pic>
        <p:nvPicPr>
          <p:cNvPr id="7" name="Picture 6">
            <a:extLst>
              <a:ext uri="{FF2B5EF4-FFF2-40B4-BE49-F238E27FC236}">
                <a16:creationId xmlns:a16="http://schemas.microsoft.com/office/drawing/2014/main" id="{D4F42440-2DA4-1B6A-9CE9-5791845770EC}"/>
              </a:ext>
            </a:extLst>
          </p:cNvPr>
          <p:cNvPicPr>
            <a:picLocks noChangeAspect="1"/>
          </p:cNvPicPr>
          <p:nvPr/>
        </p:nvPicPr>
        <p:blipFill>
          <a:blip r:embed="rId2"/>
          <a:stretch>
            <a:fillRect/>
          </a:stretch>
        </p:blipFill>
        <p:spPr>
          <a:xfrm>
            <a:off x="1903928" y="1129503"/>
            <a:ext cx="9040041" cy="536470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a:latin typeface="Arial"/>
              </a:rPr>
              <a:t>Certificates Earned:</a:t>
            </a:r>
            <a:endParaRPr lang="en-US"/>
          </a:p>
        </p:txBody>
      </p:sp>
      <p:pic>
        <p:nvPicPr>
          <p:cNvPr id="4" name="Picture 3">
            <a:extLst>
              <a:ext uri="{FF2B5EF4-FFF2-40B4-BE49-F238E27FC236}">
                <a16:creationId xmlns:a16="http://schemas.microsoft.com/office/drawing/2014/main" id="{DE129AFA-7C85-6338-44EC-729E301253DB}"/>
              </a:ext>
            </a:extLst>
          </p:cNvPr>
          <p:cNvPicPr>
            <a:picLocks noChangeAspect="1"/>
          </p:cNvPicPr>
          <p:nvPr/>
        </p:nvPicPr>
        <p:blipFill>
          <a:blip r:embed="rId2"/>
          <a:stretch>
            <a:fillRect/>
          </a:stretch>
        </p:blipFill>
        <p:spPr>
          <a:xfrm>
            <a:off x="938233" y="661928"/>
            <a:ext cx="10668925" cy="608300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TotalTime>
  <Words>1061</Words>
  <Application>Microsoft Office PowerPoint</Application>
  <PresentationFormat>Widescreen</PresentationFormat>
  <Paragraphs>130</Paragraphs>
  <Slides>16</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jeen chaudhari</cp:lastModifiedBy>
  <cp:revision>23</cp:revision>
  <dcterms:created xsi:type="dcterms:W3CDTF">2025-07-08T05:06:56Z</dcterms:created>
  <dcterms:modified xsi:type="dcterms:W3CDTF">2026-09-12T12:16:10Z</dcterms:modified>
</cp:coreProperties>
</file>